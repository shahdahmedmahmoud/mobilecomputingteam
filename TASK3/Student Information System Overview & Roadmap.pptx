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71" r:id="rId13"/>
    <p:sldId id="267" r:id="rId14"/>
    <p:sldId id="268" r:id="rId15"/>
    <p:sldId id="269" r:id="rId16"/>
    <p:sldId id="270" r:id="rId17"/>
  </p:sldIdLst>
  <p:sldSz cx="18288000" cy="10287000"/>
  <p:notesSz cx="6858000" cy="9144000"/>
  <p:embeddedFontLst>
    <p:embeddedFont>
      <p:font typeface="Calibri" panose="020F0502020204030204" pitchFamily="34" charset="0"/>
      <p:regular r:id="rId18"/>
      <p:bold r:id="rId19"/>
      <p:italic r:id="rId20"/>
      <p:boldItalic r:id="rId21"/>
    </p:embeddedFont>
    <p:embeddedFont>
      <p:font typeface="Poppins" panose="020B0604020202020204" charset="0"/>
      <p:regular r:id="rId22"/>
    </p:embeddedFont>
    <p:embeddedFont>
      <p:font typeface="TT Firs Neue" panose="020B0604020202020204" charset="0"/>
      <p:regular r:id="rId23"/>
    </p:embeddedFont>
    <p:embeddedFont>
      <p:font typeface="TT Interphases" panose="020B0604020202020204" charset="0"/>
      <p:regular r:id="rId24"/>
    </p:embeddedFont>
    <p:embeddedFont>
      <p:font typeface="Heading Now 71-78" panose="020B0604020202020204" charset="0"/>
      <p:regular r:id="rId25"/>
    </p:embeddedFont>
    <p:embeddedFont>
      <p:font typeface="TT Firs Neue Bold"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66" d="100"/>
          <a:sy n="66" d="100"/>
        </p:scale>
        <p:origin x="34" y="-1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image" Target="../media/image6.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7.jpeg"/><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1.png"/><Relationship Id="rId7" Type="http://schemas.openxmlformats.org/officeDocument/2006/relationships/image" Target="../media/image8.sv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6.sv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4.svg"/><Relationship Id="rId7" Type="http://schemas.openxmlformats.org/officeDocument/2006/relationships/image" Target="../media/image6.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4.svg"/><Relationship Id="rId10" Type="http://schemas.openxmlformats.org/officeDocument/2006/relationships/image" Target="../media/image11.png"/><Relationship Id="rId4" Type="http://schemas.openxmlformats.org/officeDocument/2006/relationships/image" Target="../media/image3.png"/><Relationship Id="rId9" Type="http://schemas.openxmlformats.org/officeDocument/2006/relationships/image" Target="../media/image8.svg"/></Relationships>
</file>

<file path=ppt/slides/_rels/slide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4.svg"/><Relationship Id="rId7" Type="http://schemas.openxmlformats.org/officeDocument/2006/relationships/image" Target="../media/image8.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6.svg"/><Relationship Id="rId10" Type="http://schemas.openxmlformats.org/officeDocument/2006/relationships/image" Target="../media/image12.png"/><Relationship Id="rId4" Type="http://schemas.openxmlformats.org/officeDocument/2006/relationships/image" Target="../media/image4.png"/><Relationship Id="rId9" Type="http://schemas.openxmlformats.org/officeDocument/2006/relationships/image" Target="../media/image4.svg"/></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6.sv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6.sv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7.png"/><Relationship Id="rId3" Type="http://schemas.openxmlformats.org/officeDocument/2006/relationships/image" Target="../media/image14.svg"/><Relationship Id="rId7" Type="http://schemas.openxmlformats.org/officeDocument/2006/relationships/image" Target="../media/image4.png"/><Relationship Id="rId12" Type="http://schemas.openxmlformats.org/officeDocument/2006/relationships/image" Target="../media/image16.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15.png"/><Relationship Id="rId5" Type="http://schemas.openxmlformats.org/officeDocument/2006/relationships/image" Target="../media/image3.png"/><Relationship Id="rId15" Type="http://schemas.openxmlformats.org/officeDocument/2006/relationships/image" Target="../media/image19.jpeg"/><Relationship Id="rId10" Type="http://schemas.openxmlformats.org/officeDocument/2006/relationships/image" Target="../media/image8.svg"/><Relationship Id="rId4" Type="http://schemas.openxmlformats.org/officeDocument/2006/relationships/image" Target="../media/image1.png"/><Relationship Id="rId9" Type="http://schemas.openxmlformats.org/officeDocument/2006/relationships/image" Target="../media/image5.png"/><Relationship Id="rId14" Type="http://schemas.openxmlformats.org/officeDocument/2006/relationships/image" Target="../media/image18.png"/></Relationships>
</file>

<file path=ppt/slides/_rels/slide10.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4.svg"/><Relationship Id="rId7"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20.pn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1.png"/><Relationship Id="rId9"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sv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6.sv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25.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23.png"/><Relationship Id="rId11" Type="http://schemas.openxmlformats.org/officeDocument/2006/relationships/image" Target="../media/image24.png"/><Relationship Id="rId5" Type="http://schemas.openxmlformats.org/officeDocument/2006/relationships/image" Target="../media/image6.svg"/><Relationship Id="rId10" Type="http://schemas.openxmlformats.org/officeDocument/2006/relationships/image" Target="../media/image4.svg"/><Relationship Id="rId4" Type="http://schemas.openxmlformats.org/officeDocument/2006/relationships/image" Target="../media/image4.png"/><Relationship Id="rId9" Type="http://schemas.openxmlformats.org/officeDocument/2006/relationships/image" Target="../media/image3.png"/></Relationships>
</file>

<file path=ppt/slides/_rels/slide13.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4.png"/><Relationship Id="rId7" Type="http://schemas.openxmlformats.org/officeDocument/2006/relationships/image" Target="../media/image5.png"/><Relationship Id="rId2" Type="http://schemas.openxmlformats.org/officeDocument/2006/relationships/image" Target="../media/image26.jpeg"/><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10" Type="http://schemas.openxmlformats.org/officeDocument/2006/relationships/image" Target="../media/image28.png"/><Relationship Id="rId4" Type="http://schemas.openxmlformats.org/officeDocument/2006/relationships/image" Target="../media/image6.svg"/><Relationship Id="rId9"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29.jpe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30.jpeg"/><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31.jpe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4.png"/><Relationship Id="rId4" Type="http://schemas.openxmlformats.org/officeDocument/2006/relationships/image" Target="../media/image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800000">
            <a:off x="12848076" y="5713276"/>
            <a:ext cx="5439924" cy="4573724"/>
          </a:xfrm>
          <a:custGeom>
            <a:avLst/>
            <a:gdLst/>
            <a:ahLst/>
            <a:cxnLst/>
            <a:rect l="l" t="t" r="r" b="b"/>
            <a:pathLst>
              <a:path w="5439924" h="4573724">
                <a:moveTo>
                  <a:pt x="0" y="0"/>
                </a:moveTo>
                <a:lnTo>
                  <a:pt x="5439924" y="0"/>
                </a:lnTo>
                <a:lnTo>
                  <a:pt x="5439924" y="4573724"/>
                </a:lnTo>
                <a:lnTo>
                  <a:pt x="0" y="4573724"/>
                </a:lnTo>
                <a:lnTo>
                  <a:pt x="0" y="0"/>
                </a:lnTo>
                <a:close/>
              </a:path>
            </a:pathLst>
          </a:custGeom>
          <a:blipFill>
            <a:blip r:embed="rId2"/>
            <a:stretch>
              <a:fillRect/>
            </a:stretch>
          </a:blipFill>
        </p:spPr>
        <p:txBody>
          <a:bodyPr/>
          <a:lstStyle/>
          <a:p>
            <a:endParaRPr lang="en-US"/>
          </a:p>
        </p:txBody>
      </p:sp>
      <p:grpSp>
        <p:nvGrpSpPr>
          <p:cNvPr id="3" name="Group 3"/>
          <p:cNvGrpSpPr/>
          <p:nvPr/>
        </p:nvGrpSpPr>
        <p:grpSpPr>
          <a:xfrm>
            <a:off x="9757695" y="2362053"/>
            <a:ext cx="6804383" cy="5246370"/>
            <a:chOff x="0" y="0"/>
            <a:chExt cx="8153400" cy="6286500"/>
          </a:xfrm>
        </p:grpSpPr>
        <p:sp>
          <p:nvSpPr>
            <p:cNvPr id="4" name="Freeform 4"/>
            <p:cNvSpPr/>
            <p:nvPr/>
          </p:nvSpPr>
          <p:spPr>
            <a:xfrm>
              <a:off x="0" y="0"/>
              <a:ext cx="8153400" cy="6286500"/>
            </a:xfrm>
            <a:custGeom>
              <a:avLst/>
              <a:gdLst/>
              <a:ahLst/>
              <a:cxnLst/>
              <a:rect l="l" t="t" r="r" b="b"/>
              <a:pathLst>
                <a:path w="8153400" h="6286500">
                  <a:moveTo>
                    <a:pt x="8153400" y="1377950"/>
                  </a:moveTo>
                  <a:lnTo>
                    <a:pt x="8153400" y="4908550"/>
                  </a:lnTo>
                  <a:cubicBezTo>
                    <a:pt x="8153400" y="5669280"/>
                    <a:pt x="7536180" y="6286500"/>
                    <a:pt x="6775450" y="6286500"/>
                  </a:cubicBezTo>
                  <a:cubicBezTo>
                    <a:pt x="6109970" y="6286500"/>
                    <a:pt x="5554980" y="5815330"/>
                    <a:pt x="5426710" y="5189220"/>
                  </a:cubicBezTo>
                  <a:cubicBezTo>
                    <a:pt x="5297170" y="5815330"/>
                    <a:pt x="4742180" y="6286500"/>
                    <a:pt x="4076700" y="6286500"/>
                  </a:cubicBezTo>
                  <a:cubicBezTo>
                    <a:pt x="3411220" y="6286500"/>
                    <a:pt x="2856230" y="5815330"/>
                    <a:pt x="2727960" y="5189220"/>
                  </a:cubicBezTo>
                  <a:cubicBezTo>
                    <a:pt x="2598420" y="5815330"/>
                    <a:pt x="2043430" y="6286500"/>
                    <a:pt x="1379220" y="6286500"/>
                  </a:cubicBezTo>
                  <a:cubicBezTo>
                    <a:pt x="617220" y="6286500"/>
                    <a:pt x="0" y="5669280"/>
                    <a:pt x="0" y="4908550"/>
                  </a:cubicBezTo>
                  <a:lnTo>
                    <a:pt x="0" y="1377950"/>
                  </a:lnTo>
                  <a:cubicBezTo>
                    <a:pt x="0" y="617220"/>
                    <a:pt x="617220" y="0"/>
                    <a:pt x="1377950" y="0"/>
                  </a:cubicBezTo>
                  <a:cubicBezTo>
                    <a:pt x="2043430" y="0"/>
                    <a:pt x="2598420" y="471170"/>
                    <a:pt x="2726690" y="1097280"/>
                  </a:cubicBezTo>
                  <a:cubicBezTo>
                    <a:pt x="2856230" y="471170"/>
                    <a:pt x="3411220" y="0"/>
                    <a:pt x="4076700" y="0"/>
                  </a:cubicBezTo>
                  <a:cubicBezTo>
                    <a:pt x="4742180" y="0"/>
                    <a:pt x="5297170" y="471170"/>
                    <a:pt x="5425440" y="1097280"/>
                  </a:cubicBezTo>
                  <a:cubicBezTo>
                    <a:pt x="5554980" y="471170"/>
                    <a:pt x="6109970" y="0"/>
                    <a:pt x="6775450" y="0"/>
                  </a:cubicBezTo>
                  <a:cubicBezTo>
                    <a:pt x="7536180" y="0"/>
                    <a:pt x="8153400" y="617220"/>
                    <a:pt x="8153400" y="1377950"/>
                  </a:cubicBezTo>
                  <a:close/>
                </a:path>
              </a:pathLst>
            </a:custGeom>
            <a:blipFill>
              <a:blip r:embed="rId3"/>
              <a:stretch>
                <a:fillRect l="-1660" r="-1660"/>
              </a:stretch>
            </a:blipFill>
          </p:spPr>
          <p:txBody>
            <a:bodyPr/>
            <a:lstStyle/>
            <a:p>
              <a:endParaRPr lang="en-US" dirty="0"/>
            </a:p>
          </p:txBody>
        </p:sp>
      </p:grpSp>
      <p:sp>
        <p:nvSpPr>
          <p:cNvPr id="5" name="Freeform 5"/>
          <p:cNvSpPr/>
          <p:nvPr/>
        </p:nvSpPr>
        <p:spPr>
          <a:xfrm>
            <a:off x="9793672" y="8081670"/>
            <a:ext cx="795630" cy="795630"/>
          </a:xfrm>
          <a:custGeom>
            <a:avLst/>
            <a:gdLst/>
            <a:ahLst/>
            <a:cxnLst/>
            <a:rect l="l" t="t" r="r" b="b"/>
            <a:pathLst>
              <a:path w="795630" h="795630">
                <a:moveTo>
                  <a:pt x="0" y="0"/>
                </a:moveTo>
                <a:lnTo>
                  <a:pt x="795631" y="0"/>
                </a:lnTo>
                <a:lnTo>
                  <a:pt x="795631" y="795630"/>
                </a:lnTo>
                <a:lnTo>
                  <a:pt x="0" y="79563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en-US" dirty="0"/>
          </a:p>
        </p:txBody>
      </p:sp>
      <p:sp>
        <p:nvSpPr>
          <p:cNvPr id="6" name="Freeform 6"/>
          <p:cNvSpPr/>
          <p:nvPr/>
        </p:nvSpPr>
        <p:spPr>
          <a:xfrm>
            <a:off x="14406916" y="454077"/>
            <a:ext cx="1859075" cy="574623"/>
          </a:xfrm>
          <a:custGeom>
            <a:avLst/>
            <a:gdLst/>
            <a:ahLst/>
            <a:cxnLst/>
            <a:rect l="l" t="t" r="r" b="b"/>
            <a:pathLst>
              <a:path w="1859075" h="574623">
                <a:moveTo>
                  <a:pt x="0" y="0"/>
                </a:moveTo>
                <a:lnTo>
                  <a:pt x="1859075" y="0"/>
                </a:lnTo>
                <a:lnTo>
                  <a:pt x="1859075" y="574623"/>
                </a:lnTo>
                <a:lnTo>
                  <a:pt x="0" y="574623"/>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txBody>
          <a:bodyPr/>
          <a:lstStyle/>
          <a:p>
            <a:endParaRPr lang="en-US"/>
          </a:p>
        </p:txBody>
      </p:sp>
      <p:sp>
        <p:nvSpPr>
          <p:cNvPr id="7" name="Freeform 7"/>
          <p:cNvSpPr/>
          <p:nvPr/>
        </p:nvSpPr>
        <p:spPr>
          <a:xfrm>
            <a:off x="0" y="0"/>
            <a:ext cx="5750866" cy="4835155"/>
          </a:xfrm>
          <a:custGeom>
            <a:avLst/>
            <a:gdLst/>
            <a:ahLst/>
            <a:cxnLst/>
            <a:rect l="l" t="t" r="r" b="b"/>
            <a:pathLst>
              <a:path w="5750866" h="4835155">
                <a:moveTo>
                  <a:pt x="0" y="0"/>
                </a:moveTo>
                <a:lnTo>
                  <a:pt x="5750866" y="0"/>
                </a:lnTo>
                <a:lnTo>
                  <a:pt x="5750866" y="4835155"/>
                </a:lnTo>
                <a:lnTo>
                  <a:pt x="0" y="4835155"/>
                </a:lnTo>
                <a:lnTo>
                  <a:pt x="0" y="0"/>
                </a:lnTo>
                <a:close/>
              </a:path>
            </a:pathLst>
          </a:custGeom>
          <a:blipFill>
            <a:blip r:embed="rId2"/>
            <a:stretch>
              <a:fillRect/>
            </a:stretch>
          </a:blipFill>
        </p:spPr>
        <p:txBody>
          <a:bodyPr/>
          <a:lstStyle/>
          <a:p>
            <a:endParaRPr lang="en-US"/>
          </a:p>
        </p:txBody>
      </p:sp>
      <p:sp>
        <p:nvSpPr>
          <p:cNvPr id="8" name="Freeform 8"/>
          <p:cNvSpPr/>
          <p:nvPr/>
        </p:nvSpPr>
        <p:spPr>
          <a:xfrm>
            <a:off x="6822655" y="1394275"/>
            <a:ext cx="1219277" cy="1219277"/>
          </a:xfrm>
          <a:custGeom>
            <a:avLst/>
            <a:gdLst/>
            <a:ahLst/>
            <a:cxnLst/>
            <a:rect l="l" t="t" r="r" b="b"/>
            <a:pathLst>
              <a:path w="1219277" h="1219277">
                <a:moveTo>
                  <a:pt x="0" y="0"/>
                </a:moveTo>
                <a:lnTo>
                  <a:pt x="1219277" y="0"/>
                </a:lnTo>
                <a:lnTo>
                  <a:pt x="1219277" y="1219277"/>
                </a:lnTo>
                <a:lnTo>
                  <a:pt x="0" y="1219277"/>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txBody>
          <a:bodyPr/>
          <a:lstStyle/>
          <a:p>
            <a:endParaRPr lang="en-US"/>
          </a:p>
        </p:txBody>
      </p:sp>
      <p:sp>
        <p:nvSpPr>
          <p:cNvPr id="9" name="Freeform 9"/>
          <p:cNvSpPr/>
          <p:nvPr/>
        </p:nvSpPr>
        <p:spPr>
          <a:xfrm>
            <a:off x="4174185" y="8130283"/>
            <a:ext cx="795630" cy="795630"/>
          </a:xfrm>
          <a:custGeom>
            <a:avLst/>
            <a:gdLst/>
            <a:ahLst/>
            <a:cxnLst/>
            <a:rect l="l" t="t" r="r" b="b"/>
            <a:pathLst>
              <a:path w="795630" h="795630">
                <a:moveTo>
                  <a:pt x="0" y="0"/>
                </a:moveTo>
                <a:lnTo>
                  <a:pt x="795631" y="0"/>
                </a:lnTo>
                <a:lnTo>
                  <a:pt x="795631" y="795630"/>
                </a:lnTo>
                <a:lnTo>
                  <a:pt x="0" y="79563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en-US"/>
          </a:p>
        </p:txBody>
      </p:sp>
      <p:sp>
        <p:nvSpPr>
          <p:cNvPr id="10" name="TextBox 10"/>
          <p:cNvSpPr txBox="1"/>
          <p:nvPr/>
        </p:nvSpPr>
        <p:spPr>
          <a:xfrm>
            <a:off x="1142999" y="3215523"/>
            <a:ext cx="8614695" cy="3539430"/>
          </a:xfrm>
          <a:prstGeom prst="rect">
            <a:avLst/>
          </a:prstGeom>
        </p:spPr>
        <p:txBody>
          <a:bodyPr wrap="square" lIns="0" tIns="0" rIns="0" bIns="0" rtlCol="0" anchor="t">
            <a:spAutoFit/>
          </a:bodyPr>
          <a:lstStyle/>
          <a:p>
            <a:pPr marL="0" lvl="0" indent="0" algn="l">
              <a:lnSpc>
                <a:spcPts val="6895"/>
              </a:lnSpc>
            </a:pPr>
            <a:r>
              <a:rPr lang="en-US" sz="6895" spc="-379" dirty="0">
                <a:solidFill>
                  <a:srgbClr val="000000"/>
                </a:solidFill>
                <a:latin typeface="Heading Now 71-78"/>
                <a:ea typeface="Heading Now 71-78"/>
                <a:cs typeface="Heading Now 71-78"/>
                <a:sym typeface="Heading Now 71-78"/>
              </a:rPr>
              <a:t>Smart Academic Services Management System</a:t>
            </a:r>
          </a:p>
        </p:txBody>
      </p:sp>
      <p:sp>
        <p:nvSpPr>
          <p:cNvPr id="11" name="TextBox 10">
            <a:extLst>
              <a:ext uri="{FF2B5EF4-FFF2-40B4-BE49-F238E27FC236}">
                <a16:creationId xmlns:a16="http://schemas.microsoft.com/office/drawing/2014/main" xmlns="" id="{D858349B-9C8F-9E6F-02C3-9BF787CD54F0}"/>
              </a:ext>
            </a:extLst>
          </p:cNvPr>
          <p:cNvSpPr txBox="1"/>
          <p:nvPr/>
        </p:nvSpPr>
        <p:spPr>
          <a:xfrm>
            <a:off x="5750866" y="7618329"/>
            <a:ext cx="3581400" cy="1938992"/>
          </a:xfrm>
          <a:prstGeom prst="rect">
            <a:avLst/>
          </a:prstGeom>
          <a:noFill/>
        </p:spPr>
        <p:txBody>
          <a:bodyPr wrap="square" rtlCol="0">
            <a:spAutoFit/>
          </a:bodyPr>
          <a:lstStyle/>
          <a:p>
            <a:pPr algn="ctr"/>
            <a:r>
              <a:rPr lang="en-US" sz="2400" dirty="0"/>
              <a:t>Mobile development project </a:t>
            </a:r>
          </a:p>
          <a:p>
            <a:pPr algn="ctr"/>
            <a:r>
              <a:rPr lang="en-US" sz="2400" dirty="0"/>
              <a:t>2025/2026 </a:t>
            </a:r>
          </a:p>
          <a:p>
            <a:pPr algn="ctr"/>
            <a:r>
              <a:rPr lang="en-US" sz="2400" dirty="0"/>
              <a:t>Computers &amp; systems dept.</a:t>
            </a:r>
          </a:p>
          <a:p>
            <a:pPr algn="ctr"/>
            <a:r>
              <a:rPr lang="en-US" sz="2400" dirty="0"/>
              <a:t>Supervised By : Eng./ Rania </a:t>
            </a:r>
          </a:p>
        </p:txBody>
      </p:sp>
    </p:spTree>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623074" y="3075041"/>
            <a:ext cx="6550405" cy="728858"/>
          </a:xfrm>
          <a:prstGeom prst="rect">
            <a:avLst/>
          </a:prstGeom>
        </p:spPr>
        <p:txBody>
          <a:bodyPr lIns="0" tIns="0" rIns="0" bIns="0" rtlCol="0" anchor="t">
            <a:spAutoFit/>
          </a:bodyPr>
          <a:lstStyle/>
          <a:p>
            <a:pPr marL="0" lvl="0" indent="0" algn="l">
              <a:lnSpc>
                <a:spcPts val="4695"/>
              </a:lnSpc>
            </a:pPr>
            <a:r>
              <a:rPr lang="en-US" sz="4695" spc="-258">
                <a:solidFill>
                  <a:srgbClr val="231F20"/>
                </a:solidFill>
                <a:latin typeface="Heading Now 71-78"/>
                <a:ea typeface="Heading Now 71-78"/>
                <a:cs typeface="Heading Now 71-78"/>
                <a:sym typeface="Heading Now 71-78"/>
              </a:rPr>
              <a:t>System Overview </a:t>
            </a:r>
          </a:p>
        </p:txBody>
      </p:sp>
      <p:sp>
        <p:nvSpPr>
          <p:cNvPr id="3" name="TextBox 3"/>
          <p:cNvSpPr txBox="1"/>
          <p:nvPr/>
        </p:nvSpPr>
        <p:spPr>
          <a:xfrm>
            <a:off x="9465185" y="4516005"/>
            <a:ext cx="6866183" cy="4366459"/>
          </a:xfrm>
          <a:prstGeom prst="rect">
            <a:avLst/>
          </a:prstGeom>
        </p:spPr>
        <p:txBody>
          <a:bodyPr lIns="0" tIns="0" rIns="0" bIns="0" rtlCol="0" anchor="t">
            <a:spAutoFit/>
          </a:bodyPr>
          <a:lstStyle/>
          <a:p>
            <a:pPr marL="0" lvl="0" indent="0" algn="l">
              <a:lnSpc>
                <a:spcPts val="3454"/>
              </a:lnSpc>
            </a:pPr>
            <a:r>
              <a:rPr lang="en-US" sz="2467">
                <a:solidFill>
                  <a:srgbClr val="231F20"/>
                </a:solidFill>
                <a:latin typeface="TT Interphases"/>
                <a:ea typeface="TT Interphases"/>
                <a:cs typeface="TT Interphases"/>
                <a:sym typeface="TT Interphases"/>
              </a:rPr>
              <a:t>A comprehensive academic management platform designed to serve students, instructors, and administrators by centralizing academic and administrative services, enabling efficient course and content management, and streamlining communication and academic operations. The platform enhances operational efficiency, improves data accuracy, and supports the college’s digital transformation strategy.</a:t>
            </a:r>
          </a:p>
          <a:p>
            <a:pPr marL="0" lvl="0" indent="0" algn="l">
              <a:lnSpc>
                <a:spcPts val="3454"/>
              </a:lnSpc>
            </a:pPr>
            <a:endParaRPr lang="en-US" sz="2467">
              <a:solidFill>
                <a:srgbClr val="231F20"/>
              </a:solidFill>
              <a:latin typeface="TT Interphases"/>
              <a:ea typeface="TT Interphases"/>
              <a:cs typeface="TT Interphases"/>
              <a:sym typeface="TT Interphases"/>
            </a:endParaRPr>
          </a:p>
        </p:txBody>
      </p:sp>
      <p:grpSp>
        <p:nvGrpSpPr>
          <p:cNvPr id="4" name="Group 4"/>
          <p:cNvGrpSpPr/>
          <p:nvPr/>
        </p:nvGrpSpPr>
        <p:grpSpPr>
          <a:xfrm>
            <a:off x="-368882" y="-204561"/>
            <a:ext cx="8077952" cy="10852181"/>
            <a:chOff x="0" y="0"/>
            <a:chExt cx="1386708" cy="1862948"/>
          </a:xfrm>
        </p:grpSpPr>
        <p:sp>
          <p:nvSpPr>
            <p:cNvPr id="5" name="Freeform 5"/>
            <p:cNvSpPr/>
            <p:nvPr/>
          </p:nvSpPr>
          <p:spPr>
            <a:xfrm>
              <a:off x="0" y="0"/>
              <a:ext cx="1386708" cy="1862948"/>
            </a:xfrm>
            <a:custGeom>
              <a:avLst/>
              <a:gdLst/>
              <a:ahLst/>
              <a:cxnLst/>
              <a:rect l="l" t="t" r="r" b="b"/>
              <a:pathLst>
                <a:path w="1386708" h="1862948">
                  <a:moveTo>
                    <a:pt x="33544" y="0"/>
                  </a:moveTo>
                  <a:lnTo>
                    <a:pt x="1353164" y="0"/>
                  </a:lnTo>
                  <a:cubicBezTo>
                    <a:pt x="1371690" y="0"/>
                    <a:pt x="1386708" y="15018"/>
                    <a:pt x="1386708" y="33544"/>
                  </a:cubicBezTo>
                  <a:lnTo>
                    <a:pt x="1386708" y="1829403"/>
                  </a:lnTo>
                  <a:cubicBezTo>
                    <a:pt x="1386708" y="1838300"/>
                    <a:pt x="1383174" y="1846832"/>
                    <a:pt x="1376883" y="1853123"/>
                  </a:cubicBezTo>
                  <a:cubicBezTo>
                    <a:pt x="1370592" y="1859413"/>
                    <a:pt x="1362060" y="1862948"/>
                    <a:pt x="1353164" y="1862948"/>
                  </a:cubicBezTo>
                  <a:lnTo>
                    <a:pt x="33544" y="1862948"/>
                  </a:lnTo>
                  <a:cubicBezTo>
                    <a:pt x="24648" y="1862948"/>
                    <a:pt x="16116" y="1859413"/>
                    <a:pt x="9825" y="1853123"/>
                  </a:cubicBezTo>
                  <a:cubicBezTo>
                    <a:pt x="3534" y="1846832"/>
                    <a:pt x="0" y="1838300"/>
                    <a:pt x="0" y="1829403"/>
                  </a:cubicBezTo>
                  <a:lnTo>
                    <a:pt x="0" y="33544"/>
                  </a:lnTo>
                  <a:cubicBezTo>
                    <a:pt x="0" y="24648"/>
                    <a:pt x="3534" y="16116"/>
                    <a:pt x="9825" y="9825"/>
                  </a:cubicBezTo>
                  <a:cubicBezTo>
                    <a:pt x="16116" y="3534"/>
                    <a:pt x="24648" y="0"/>
                    <a:pt x="33544" y="0"/>
                  </a:cubicBezTo>
                  <a:close/>
                </a:path>
              </a:pathLst>
            </a:custGeom>
            <a:blipFill>
              <a:blip r:embed="rId2"/>
              <a:stretch>
                <a:fillRect l="-126" r="-126"/>
              </a:stretch>
            </a:blipFill>
          </p:spPr>
          <p:txBody>
            <a:bodyPr/>
            <a:lstStyle/>
            <a:p>
              <a:endParaRPr lang="en-US"/>
            </a:p>
          </p:txBody>
        </p:sp>
      </p:grpSp>
      <p:sp>
        <p:nvSpPr>
          <p:cNvPr id="6" name="Freeform 6"/>
          <p:cNvSpPr/>
          <p:nvPr/>
        </p:nvSpPr>
        <p:spPr>
          <a:xfrm rot="-10800000">
            <a:off x="11953030" y="4960748"/>
            <a:ext cx="6334970" cy="5326252"/>
          </a:xfrm>
          <a:custGeom>
            <a:avLst/>
            <a:gdLst/>
            <a:ahLst/>
            <a:cxnLst/>
            <a:rect l="l" t="t" r="r" b="b"/>
            <a:pathLst>
              <a:path w="6334970" h="5326252">
                <a:moveTo>
                  <a:pt x="0" y="0"/>
                </a:moveTo>
                <a:lnTo>
                  <a:pt x="6334970" y="0"/>
                </a:lnTo>
                <a:lnTo>
                  <a:pt x="6334970" y="5326252"/>
                </a:lnTo>
                <a:lnTo>
                  <a:pt x="0" y="5326252"/>
                </a:lnTo>
                <a:lnTo>
                  <a:pt x="0" y="0"/>
                </a:lnTo>
                <a:close/>
              </a:path>
            </a:pathLst>
          </a:custGeom>
          <a:blipFill>
            <a:blip r:embed="rId3"/>
            <a:stretch>
              <a:fillRect/>
            </a:stretch>
          </a:blipFill>
        </p:spPr>
        <p:txBody>
          <a:bodyPr/>
          <a:lstStyle/>
          <a:p>
            <a:endParaRPr lang="en-US"/>
          </a:p>
        </p:txBody>
      </p:sp>
      <p:sp>
        <p:nvSpPr>
          <p:cNvPr id="7" name="Freeform 7"/>
          <p:cNvSpPr/>
          <p:nvPr/>
        </p:nvSpPr>
        <p:spPr>
          <a:xfrm>
            <a:off x="8341180" y="8548139"/>
            <a:ext cx="795630" cy="795630"/>
          </a:xfrm>
          <a:custGeom>
            <a:avLst/>
            <a:gdLst/>
            <a:ahLst/>
            <a:cxnLst/>
            <a:rect l="l" t="t" r="r" b="b"/>
            <a:pathLst>
              <a:path w="795630" h="795630">
                <a:moveTo>
                  <a:pt x="0" y="0"/>
                </a:moveTo>
                <a:lnTo>
                  <a:pt x="795631" y="0"/>
                </a:lnTo>
                <a:lnTo>
                  <a:pt x="795631" y="795630"/>
                </a:lnTo>
                <a:lnTo>
                  <a:pt x="0" y="79563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en-US"/>
          </a:p>
        </p:txBody>
      </p:sp>
      <p:sp>
        <p:nvSpPr>
          <p:cNvPr id="8" name="Freeform 8"/>
          <p:cNvSpPr/>
          <p:nvPr/>
        </p:nvSpPr>
        <p:spPr>
          <a:xfrm>
            <a:off x="7809458" y="286252"/>
            <a:ext cx="1859075" cy="574623"/>
          </a:xfrm>
          <a:custGeom>
            <a:avLst/>
            <a:gdLst/>
            <a:ahLst/>
            <a:cxnLst/>
            <a:rect l="l" t="t" r="r" b="b"/>
            <a:pathLst>
              <a:path w="1859075" h="574623">
                <a:moveTo>
                  <a:pt x="0" y="0"/>
                </a:moveTo>
                <a:lnTo>
                  <a:pt x="1859075" y="0"/>
                </a:lnTo>
                <a:lnTo>
                  <a:pt x="1859075" y="574623"/>
                </a:lnTo>
                <a:lnTo>
                  <a:pt x="0" y="574623"/>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txBody>
          <a:bodyPr/>
          <a:lstStyle/>
          <a:p>
            <a:endParaRPr lang="en-US"/>
          </a:p>
        </p:txBody>
      </p:sp>
      <p:sp>
        <p:nvSpPr>
          <p:cNvPr id="9" name="Freeform 9"/>
          <p:cNvSpPr/>
          <p:nvPr/>
        </p:nvSpPr>
        <p:spPr>
          <a:xfrm>
            <a:off x="16818574" y="-896135"/>
            <a:ext cx="2520063" cy="2520063"/>
          </a:xfrm>
          <a:custGeom>
            <a:avLst/>
            <a:gdLst/>
            <a:ahLst/>
            <a:cxnLst/>
            <a:rect l="l" t="t" r="r" b="b"/>
            <a:pathLst>
              <a:path w="2520063" h="2520063">
                <a:moveTo>
                  <a:pt x="0" y="0"/>
                </a:moveTo>
                <a:lnTo>
                  <a:pt x="2520063" y="0"/>
                </a:lnTo>
                <a:lnTo>
                  <a:pt x="2520063" y="2520063"/>
                </a:lnTo>
                <a:lnTo>
                  <a:pt x="0" y="2520063"/>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txBody>
          <a:bodyPr/>
          <a:lstStyle/>
          <a:p>
            <a:endParaRPr lang="en-US"/>
          </a:p>
        </p:txBody>
      </p:sp>
      <p:sp>
        <p:nvSpPr>
          <p:cNvPr id="10" name="Freeform 10"/>
          <p:cNvSpPr/>
          <p:nvPr/>
        </p:nvSpPr>
        <p:spPr>
          <a:xfrm>
            <a:off x="8268584" y="2853390"/>
            <a:ext cx="652549" cy="652549"/>
          </a:xfrm>
          <a:custGeom>
            <a:avLst/>
            <a:gdLst/>
            <a:ahLst/>
            <a:cxnLst/>
            <a:rect l="l" t="t" r="r" b="b"/>
            <a:pathLst>
              <a:path w="652549" h="652549">
                <a:moveTo>
                  <a:pt x="0" y="0"/>
                </a:moveTo>
                <a:lnTo>
                  <a:pt x="652550" y="0"/>
                </a:lnTo>
                <a:lnTo>
                  <a:pt x="652550" y="652549"/>
                </a:lnTo>
                <a:lnTo>
                  <a:pt x="0" y="652549"/>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txBody>
          <a:bodyPr/>
          <a:lstStyle/>
          <a:p>
            <a:endParaRPr lang="en-US"/>
          </a:p>
        </p:txBody>
      </p:sp>
      <p:sp>
        <p:nvSpPr>
          <p:cNvPr id="11" name="Freeform 11"/>
          <p:cNvSpPr/>
          <p:nvPr/>
        </p:nvSpPr>
        <p:spPr>
          <a:xfrm>
            <a:off x="15931031" y="3505939"/>
            <a:ext cx="795630" cy="795630"/>
          </a:xfrm>
          <a:custGeom>
            <a:avLst/>
            <a:gdLst/>
            <a:ahLst/>
            <a:cxnLst/>
            <a:rect l="l" t="t" r="r" b="b"/>
            <a:pathLst>
              <a:path w="795630" h="795630">
                <a:moveTo>
                  <a:pt x="0" y="0"/>
                </a:moveTo>
                <a:lnTo>
                  <a:pt x="795630" y="0"/>
                </a:lnTo>
                <a:lnTo>
                  <a:pt x="795630" y="795630"/>
                </a:lnTo>
                <a:lnTo>
                  <a:pt x="0" y="79563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en-US"/>
          </a:p>
        </p:txBody>
      </p:sp>
      <p:sp>
        <p:nvSpPr>
          <p:cNvPr id="12" name="TextBox 12"/>
          <p:cNvSpPr txBox="1"/>
          <p:nvPr/>
        </p:nvSpPr>
        <p:spPr>
          <a:xfrm>
            <a:off x="9152026" y="1368361"/>
            <a:ext cx="5723425" cy="1244327"/>
          </a:xfrm>
          <a:prstGeom prst="rect">
            <a:avLst/>
          </a:prstGeom>
        </p:spPr>
        <p:txBody>
          <a:bodyPr lIns="0" tIns="0" rIns="0" bIns="0" rtlCol="0" anchor="t">
            <a:spAutoFit/>
          </a:bodyPr>
          <a:lstStyle/>
          <a:p>
            <a:pPr marL="0" lvl="0" indent="0" algn="l">
              <a:lnSpc>
                <a:spcPts val="3340"/>
              </a:lnSpc>
            </a:pPr>
            <a:r>
              <a:rPr lang="en-US" sz="2385" b="1">
                <a:solidFill>
                  <a:srgbClr val="231F20"/>
                </a:solidFill>
                <a:latin typeface="TT Firs Neue Bold"/>
                <a:ea typeface="TT Firs Neue Bold"/>
                <a:cs typeface="TT Firs Neue Bold"/>
                <a:sym typeface="TT Firs Neue Bold"/>
              </a:rPr>
              <a:t>Smart Academic Services      Management System</a:t>
            </a:r>
          </a:p>
          <a:p>
            <a:pPr marL="0" lvl="0" indent="0" algn="l">
              <a:lnSpc>
                <a:spcPts val="3340"/>
              </a:lnSpc>
            </a:pPr>
            <a:endParaRPr lang="en-US" sz="2385" b="1">
              <a:solidFill>
                <a:srgbClr val="231F20"/>
              </a:solidFill>
              <a:latin typeface="TT Firs Neue Bold"/>
              <a:ea typeface="TT Firs Neue Bold"/>
              <a:cs typeface="TT Firs Neue Bold"/>
              <a:sym typeface="TT Firs Neue Bold"/>
            </a:endParaRPr>
          </a:p>
        </p:txBody>
      </p:sp>
      <p:sp>
        <p:nvSpPr>
          <p:cNvPr id="13" name="TextBox 13"/>
          <p:cNvSpPr txBox="1"/>
          <p:nvPr/>
        </p:nvSpPr>
        <p:spPr>
          <a:xfrm>
            <a:off x="2658854" y="5623434"/>
            <a:ext cx="2111716" cy="567141"/>
          </a:xfrm>
          <a:prstGeom prst="rect">
            <a:avLst/>
          </a:prstGeom>
        </p:spPr>
        <p:txBody>
          <a:bodyPr lIns="0" tIns="0" rIns="0" bIns="0" rtlCol="0" anchor="t">
            <a:spAutoFit/>
          </a:bodyPr>
          <a:lstStyle/>
          <a:p>
            <a:pPr marL="0" lvl="0" indent="0" algn="ctr">
              <a:lnSpc>
                <a:spcPts val="4440"/>
              </a:lnSpc>
              <a:spcBef>
                <a:spcPct val="0"/>
              </a:spcBef>
            </a:pPr>
            <a:r>
              <a:rPr lang="en-US" sz="3171" u="none" strike="noStrike">
                <a:solidFill>
                  <a:srgbClr val="000000"/>
                </a:solidFill>
                <a:latin typeface="Poppins"/>
                <a:ea typeface="Poppins"/>
                <a:cs typeface="Poppins"/>
                <a:sym typeface="Poppins"/>
              </a:rPr>
              <a:t>Instructor</a:t>
            </a:r>
          </a:p>
        </p:txBody>
      </p:sp>
      <p:sp>
        <p:nvSpPr>
          <p:cNvPr id="14" name="TextBox 14"/>
          <p:cNvSpPr txBox="1"/>
          <p:nvPr/>
        </p:nvSpPr>
        <p:spPr>
          <a:xfrm>
            <a:off x="2886855" y="2526963"/>
            <a:ext cx="1674763" cy="567128"/>
          </a:xfrm>
          <a:prstGeom prst="rect">
            <a:avLst/>
          </a:prstGeom>
        </p:spPr>
        <p:txBody>
          <a:bodyPr lIns="0" tIns="0" rIns="0" bIns="0" rtlCol="0" anchor="t">
            <a:spAutoFit/>
          </a:bodyPr>
          <a:lstStyle/>
          <a:p>
            <a:pPr algn="ctr">
              <a:lnSpc>
                <a:spcPts val="4440"/>
              </a:lnSpc>
              <a:spcBef>
                <a:spcPct val="0"/>
              </a:spcBef>
            </a:pPr>
            <a:r>
              <a:rPr lang="en-US" sz="3171">
                <a:solidFill>
                  <a:srgbClr val="000000"/>
                </a:solidFill>
                <a:latin typeface="Poppins"/>
                <a:ea typeface="Poppins"/>
                <a:cs typeface="Poppins"/>
                <a:sym typeface="Poppins"/>
              </a:rPr>
              <a:t>Student </a:t>
            </a:r>
          </a:p>
        </p:txBody>
      </p:sp>
      <p:sp>
        <p:nvSpPr>
          <p:cNvPr id="15" name="TextBox 15"/>
          <p:cNvSpPr txBox="1"/>
          <p:nvPr/>
        </p:nvSpPr>
        <p:spPr>
          <a:xfrm>
            <a:off x="2125675" y="8776628"/>
            <a:ext cx="3088838" cy="567141"/>
          </a:xfrm>
          <a:prstGeom prst="rect">
            <a:avLst/>
          </a:prstGeom>
        </p:spPr>
        <p:txBody>
          <a:bodyPr lIns="0" tIns="0" rIns="0" bIns="0" rtlCol="0" anchor="t">
            <a:spAutoFit/>
          </a:bodyPr>
          <a:lstStyle/>
          <a:p>
            <a:pPr marL="0" lvl="0" indent="0" algn="ctr">
              <a:lnSpc>
                <a:spcPts val="4440"/>
              </a:lnSpc>
              <a:spcBef>
                <a:spcPct val="0"/>
              </a:spcBef>
            </a:pPr>
            <a:r>
              <a:rPr lang="en-US" sz="3171" u="none" strike="noStrike">
                <a:solidFill>
                  <a:srgbClr val="000000"/>
                </a:solidFill>
                <a:latin typeface="Poppins"/>
                <a:ea typeface="Poppins"/>
                <a:cs typeface="Poppins"/>
                <a:sym typeface="Poppins"/>
              </a:rPr>
              <a:t>Admin</a:t>
            </a:r>
          </a:p>
        </p:txBody>
      </p:sp>
    </p:spTree>
  </p:cSld>
  <p:clrMapOvr>
    <a:masterClrMapping/>
  </p:clrMapOvr>
  <p:transition spd="slow">
    <p:push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800000">
            <a:off x="13272382" y="6070019"/>
            <a:ext cx="5015618" cy="4216981"/>
          </a:xfrm>
          <a:custGeom>
            <a:avLst/>
            <a:gdLst/>
            <a:ahLst/>
            <a:cxnLst/>
            <a:rect l="l" t="t" r="r" b="b"/>
            <a:pathLst>
              <a:path w="5015618" h="4216981">
                <a:moveTo>
                  <a:pt x="0" y="0"/>
                </a:moveTo>
                <a:lnTo>
                  <a:pt x="5015618" y="0"/>
                </a:lnTo>
                <a:lnTo>
                  <a:pt x="5015618" y="4216981"/>
                </a:lnTo>
                <a:lnTo>
                  <a:pt x="0" y="4216981"/>
                </a:lnTo>
                <a:lnTo>
                  <a:pt x="0" y="0"/>
                </a:lnTo>
                <a:close/>
              </a:path>
            </a:pathLst>
          </a:custGeom>
          <a:blipFill>
            <a:blip r:embed="rId2"/>
            <a:stretch>
              <a:fillRect/>
            </a:stretch>
          </a:blipFill>
        </p:spPr>
        <p:txBody>
          <a:bodyPr/>
          <a:lstStyle/>
          <a:p>
            <a:endParaRPr lang="en-US"/>
          </a:p>
        </p:txBody>
      </p:sp>
      <p:sp>
        <p:nvSpPr>
          <p:cNvPr id="3" name="Freeform 3"/>
          <p:cNvSpPr/>
          <p:nvPr/>
        </p:nvSpPr>
        <p:spPr>
          <a:xfrm>
            <a:off x="1203593" y="9258300"/>
            <a:ext cx="1859075" cy="574623"/>
          </a:xfrm>
          <a:custGeom>
            <a:avLst/>
            <a:gdLst/>
            <a:ahLst/>
            <a:cxnLst/>
            <a:rect l="l" t="t" r="r" b="b"/>
            <a:pathLst>
              <a:path w="1859075" h="574623">
                <a:moveTo>
                  <a:pt x="0" y="0"/>
                </a:moveTo>
                <a:lnTo>
                  <a:pt x="1859075" y="0"/>
                </a:lnTo>
                <a:lnTo>
                  <a:pt x="1859075" y="574623"/>
                </a:lnTo>
                <a:lnTo>
                  <a:pt x="0" y="574623"/>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txBody>
          <a:bodyPr/>
          <a:lstStyle/>
          <a:p>
            <a:endParaRPr lang="en-US"/>
          </a:p>
        </p:txBody>
      </p:sp>
      <p:sp>
        <p:nvSpPr>
          <p:cNvPr id="4" name="Freeform 4"/>
          <p:cNvSpPr/>
          <p:nvPr/>
        </p:nvSpPr>
        <p:spPr>
          <a:xfrm>
            <a:off x="0" y="0"/>
            <a:ext cx="4676931" cy="3932223"/>
          </a:xfrm>
          <a:custGeom>
            <a:avLst/>
            <a:gdLst/>
            <a:ahLst/>
            <a:cxnLst/>
            <a:rect l="l" t="t" r="r" b="b"/>
            <a:pathLst>
              <a:path w="4676931" h="3932223">
                <a:moveTo>
                  <a:pt x="0" y="0"/>
                </a:moveTo>
                <a:lnTo>
                  <a:pt x="4676931" y="0"/>
                </a:lnTo>
                <a:lnTo>
                  <a:pt x="4676931" y="3932223"/>
                </a:lnTo>
                <a:lnTo>
                  <a:pt x="0" y="3932223"/>
                </a:lnTo>
                <a:lnTo>
                  <a:pt x="0" y="0"/>
                </a:lnTo>
                <a:close/>
              </a:path>
            </a:pathLst>
          </a:custGeom>
          <a:blipFill>
            <a:blip r:embed="rId2"/>
            <a:stretch>
              <a:fillRect/>
            </a:stretch>
          </a:blipFill>
        </p:spPr>
        <p:txBody>
          <a:bodyPr/>
          <a:lstStyle/>
          <a:p>
            <a:endParaRPr lang="en-US"/>
          </a:p>
        </p:txBody>
      </p:sp>
      <p:grpSp>
        <p:nvGrpSpPr>
          <p:cNvPr id="5" name="Group 5"/>
          <p:cNvGrpSpPr/>
          <p:nvPr/>
        </p:nvGrpSpPr>
        <p:grpSpPr>
          <a:xfrm>
            <a:off x="7768258" y="1028700"/>
            <a:ext cx="8580225" cy="3533613"/>
            <a:chOff x="0" y="0"/>
            <a:chExt cx="1329301" cy="547449"/>
          </a:xfrm>
        </p:grpSpPr>
        <p:sp>
          <p:nvSpPr>
            <p:cNvPr id="6" name="Freeform 6"/>
            <p:cNvSpPr/>
            <p:nvPr/>
          </p:nvSpPr>
          <p:spPr>
            <a:xfrm>
              <a:off x="0" y="0"/>
              <a:ext cx="1329301" cy="547449"/>
            </a:xfrm>
            <a:custGeom>
              <a:avLst/>
              <a:gdLst/>
              <a:ahLst/>
              <a:cxnLst/>
              <a:rect l="l" t="t" r="r" b="b"/>
              <a:pathLst>
                <a:path w="1329301" h="547449">
                  <a:moveTo>
                    <a:pt x="31580" y="0"/>
                  </a:moveTo>
                  <a:lnTo>
                    <a:pt x="1297721" y="0"/>
                  </a:lnTo>
                  <a:cubicBezTo>
                    <a:pt x="1306097" y="0"/>
                    <a:pt x="1314129" y="3327"/>
                    <a:pt x="1320052" y="9250"/>
                  </a:cubicBezTo>
                  <a:cubicBezTo>
                    <a:pt x="1325974" y="15172"/>
                    <a:pt x="1329301" y="23205"/>
                    <a:pt x="1329301" y="31580"/>
                  </a:cubicBezTo>
                  <a:lnTo>
                    <a:pt x="1329301" y="515869"/>
                  </a:lnTo>
                  <a:cubicBezTo>
                    <a:pt x="1329301" y="533310"/>
                    <a:pt x="1315162" y="547449"/>
                    <a:pt x="1297721" y="547449"/>
                  </a:cubicBezTo>
                  <a:lnTo>
                    <a:pt x="31580" y="547449"/>
                  </a:lnTo>
                  <a:cubicBezTo>
                    <a:pt x="14139" y="547449"/>
                    <a:pt x="0" y="533310"/>
                    <a:pt x="0" y="515869"/>
                  </a:cubicBezTo>
                  <a:lnTo>
                    <a:pt x="0" y="31580"/>
                  </a:lnTo>
                  <a:cubicBezTo>
                    <a:pt x="0" y="14139"/>
                    <a:pt x="14139" y="0"/>
                    <a:pt x="31580" y="0"/>
                  </a:cubicBezTo>
                  <a:close/>
                </a:path>
              </a:pathLst>
            </a:custGeom>
            <a:blipFill>
              <a:blip r:embed="rId5"/>
              <a:stretch>
                <a:fillRect t="-19202" b="-19202"/>
              </a:stretch>
            </a:blipFill>
          </p:spPr>
          <p:txBody>
            <a:bodyPr/>
            <a:lstStyle/>
            <a:p>
              <a:endParaRPr lang="en-US"/>
            </a:p>
          </p:txBody>
        </p:sp>
      </p:grpSp>
      <p:sp>
        <p:nvSpPr>
          <p:cNvPr id="7" name="Freeform 7"/>
          <p:cNvSpPr/>
          <p:nvPr/>
        </p:nvSpPr>
        <p:spPr>
          <a:xfrm>
            <a:off x="5175398" y="800276"/>
            <a:ext cx="1219277" cy="1219277"/>
          </a:xfrm>
          <a:custGeom>
            <a:avLst/>
            <a:gdLst/>
            <a:ahLst/>
            <a:cxnLst/>
            <a:rect l="l" t="t" r="r" b="b"/>
            <a:pathLst>
              <a:path w="1219277" h="1219277">
                <a:moveTo>
                  <a:pt x="0" y="0"/>
                </a:moveTo>
                <a:lnTo>
                  <a:pt x="1219277" y="0"/>
                </a:lnTo>
                <a:lnTo>
                  <a:pt x="1219277" y="1219277"/>
                </a:lnTo>
                <a:lnTo>
                  <a:pt x="0" y="1219277"/>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txBody>
          <a:bodyPr/>
          <a:lstStyle/>
          <a:p>
            <a:endParaRPr lang="en-US"/>
          </a:p>
        </p:txBody>
      </p:sp>
      <p:sp>
        <p:nvSpPr>
          <p:cNvPr id="8" name="Freeform 8"/>
          <p:cNvSpPr/>
          <p:nvPr/>
        </p:nvSpPr>
        <p:spPr>
          <a:xfrm>
            <a:off x="16113935" y="-961215"/>
            <a:ext cx="2980768" cy="2980768"/>
          </a:xfrm>
          <a:custGeom>
            <a:avLst/>
            <a:gdLst/>
            <a:ahLst/>
            <a:cxnLst/>
            <a:rect l="l" t="t" r="r" b="b"/>
            <a:pathLst>
              <a:path w="2980768" h="2980768">
                <a:moveTo>
                  <a:pt x="0" y="0"/>
                </a:moveTo>
                <a:lnTo>
                  <a:pt x="2980768" y="0"/>
                </a:lnTo>
                <a:lnTo>
                  <a:pt x="2980768" y="2980768"/>
                </a:lnTo>
                <a:lnTo>
                  <a:pt x="0" y="2980768"/>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txBody>
          <a:bodyPr/>
          <a:lstStyle/>
          <a:p>
            <a:endParaRPr lang="en-US"/>
          </a:p>
        </p:txBody>
      </p:sp>
      <p:sp>
        <p:nvSpPr>
          <p:cNvPr id="9" name="TextBox 9"/>
          <p:cNvSpPr txBox="1"/>
          <p:nvPr/>
        </p:nvSpPr>
        <p:spPr>
          <a:xfrm>
            <a:off x="1203593" y="2767599"/>
            <a:ext cx="5798140" cy="1277692"/>
          </a:xfrm>
          <a:prstGeom prst="rect">
            <a:avLst/>
          </a:prstGeom>
        </p:spPr>
        <p:txBody>
          <a:bodyPr lIns="0" tIns="0" rIns="0" bIns="0" rtlCol="0" anchor="t">
            <a:spAutoFit/>
          </a:bodyPr>
          <a:lstStyle/>
          <a:p>
            <a:pPr marL="0" lvl="0" indent="0" algn="l">
              <a:lnSpc>
                <a:spcPts val="4552"/>
              </a:lnSpc>
            </a:pPr>
            <a:r>
              <a:rPr lang="en-US" sz="4552" spc="-250">
                <a:solidFill>
                  <a:srgbClr val="231F20"/>
                </a:solidFill>
                <a:latin typeface="Heading Now 71-78"/>
                <a:ea typeface="Heading Now 71-78"/>
                <a:cs typeface="Heading Now 71-78"/>
                <a:sym typeface="Heading Now 71-78"/>
              </a:rPr>
              <a:t>Pain Points &amp; Problem Statement</a:t>
            </a:r>
          </a:p>
        </p:txBody>
      </p:sp>
      <p:sp>
        <p:nvSpPr>
          <p:cNvPr id="10" name="TextBox 10"/>
          <p:cNvSpPr txBox="1"/>
          <p:nvPr/>
        </p:nvSpPr>
        <p:spPr>
          <a:xfrm>
            <a:off x="1565154" y="4764762"/>
            <a:ext cx="10835076" cy="4493538"/>
          </a:xfrm>
          <a:prstGeom prst="rect">
            <a:avLst/>
          </a:prstGeom>
        </p:spPr>
        <p:txBody>
          <a:bodyPr lIns="0" tIns="0" rIns="0" bIns="0" rtlCol="0" anchor="t">
            <a:spAutoFit/>
          </a:bodyPr>
          <a:lstStyle/>
          <a:p>
            <a:pPr algn="l">
              <a:lnSpc>
                <a:spcPts val="3274"/>
              </a:lnSpc>
            </a:pPr>
            <a:endParaRPr/>
          </a:p>
          <a:p>
            <a:pPr marL="504999" lvl="1" indent="-252499" algn="l">
              <a:lnSpc>
                <a:spcPts val="3274"/>
              </a:lnSpc>
              <a:buFont typeface="Arial"/>
              <a:buChar char="•"/>
            </a:pPr>
            <a:r>
              <a:rPr lang="en-US" sz="2339">
                <a:solidFill>
                  <a:srgbClr val="231F20"/>
                </a:solidFill>
                <a:latin typeface="TT Firs Neue"/>
                <a:ea typeface="TT Firs Neue"/>
                <a:cs typeface="TT Firs Neue"/>
                <a:sym typeface="TT Firs Neue"/>
              </a:rPr>
              <a:t>No centralized system for academic services</a:t>
            </a:r>
          </a:p>
          <a:p>
            <a:pPr algn="l">
              <a:lnSpc>
                <a:spcPts val="3274"/>
              </a:lnSpc>
            </a:pPr>
            <a:endParaRPr lang="en-US" sz="2339">
              <a:solidFill>
                <a:srgbClr val="231F20"/>
              </a:solidFill>
              <a:latin typeface="TT Firs Neue"/>
              <a:ea typeface="TT Firs Neue"/>
              <a:cs typeface="TT Firs Neue"/>
              <a:sym typeface="TT Firs Neue"/>
            </a:endParaRPr>
          </a:p>
          <a:p>
            <a:pPr marL="504999" lvl="1" indent="-252499" algn="l">
              <a:lnSpc>
                <a:spcPts val="3274"/>
              </a:lnSpc>
              <a:buFont typeface="Arial"/>
              <a:buChar char="•"/>
            </a:pPr>
            <a:r>
              <a:rPr lang="en-US" sz="2339">
                <a:solidFill>
                  <a:srgbClr val="231F20"/>
                </a:solidFill>
                <a:latin typeface="TT Firs Neue"/>
                <a:ea typeface="TT Firs Neue"/>
                <a:cs typeface="TT Firs Neue"/>
                <a:sym typeface="TT Firs Neue"/>
              </a:rPr>
              <a:t>Manual handling of attendance, grades, and schedules</a:t>
            </a:r>
          </a:p>
          <a:p>
            <a:pPr algn="l">
              <a:lnSpc>
                <a:spcPts val="3274"/>
              </a:lnSpc>
            </a:pPr>
            <a:endParaRPr lang="en-US" sz="2339">
              <a:solidFill>
                <a:srgbClr val="231F20"/>
              </a:solidFill>
              <a:latin typeface="TT Firs Neue"/>
              <a:ea typeface="TT Firs Neue"/>
              <a:cs typeface="TT Firs Neue"/>
              <a:sym typeface="TT Firs Neue"/>
            </a:endParaRPr>
          </a:p>
          <a:p>
            <a:pPr marL="504999" lvl="1" indent="-252499" algn="l">
              <a:lnSpc>
                <a:spcPts val="3274"/>
              </a:lnSpc>
              <a:buFont typeface="Arial"/>
              <a:buChar char="•"/>
            </a:pPr>
            <a:r>
              <a:rPr lang="en-US" sz="2339">
                <a:solidFill>
                  <a:srgbClr val="231F20"/>
                </a:solidFill>
                <a:latin typeface="TT Firs Neue"/>
                <a:ea typeface="TT Firs Neue"/>
                <a:cs typeface="TT Firs Neue"/>
                <a:sym typeface="TT Firs Neue"/>
              </a:rPr>
              <a:t>Limited digital tools for instructors and administrators</a:t>
            </a:r>
          </a:p>
          <a:p>
            <a:pPr algn="l">
              <a:lnSpc>
                <a:spcPts val="3274"/>
              </a:lnSpc>
            </a:pPr>
            <a:endParaRPr lang="en-US" sz="2339">
              <a:solidFill>
                <a:srgbClr val="231F20"/>
              </a:solidFill>
              <a:latin typeface="TT Firs Neue"/>
              <a:ea typeface="TT Firs Neue"/>
              <a:cs typeface="TT Firs Neue"/>
              <a:sym typeface="TT Firs Neue"/>
            </a:endParaRPr>
          </a:p>
          <a:p>
            <a:pPr marL="504999" lvl="1" indent="-252499" algn="l">
              <a:lnSpc>
                <a:spcPts val="3274"/>
              </a:lnSpc>
              <a:buFont typeface="Arial"/>
              <a:buChar char="•"/>
            </a:pPr>
            <a:r>
              <a:rPr lang="en-US" sz="2339">
                <a:solidFill>
                  <a:srgbClr val="231F20"/>
                </a:solidFill>
                <a:latin typeface="TT Firs Neue"/>
                <a:ea typeface="TT Firs Neue"/>
                <a:cs typeface="TT Firs Neue"/>
                <a:sym typeface="TT Firs Neue"/>
              </a:rPr>
              <a:t>Weak communication between students, faculty, and management</a:t>
            </a:r>
          </a:p>
          <a:p>
            <a:pPr algn="l">
              <a:lnSpc>
                <a:spcPts val="3274"/>
              </a:lnSpc>
            </a:pPr>
            <a:endParaRPr lang="en-US" sz="2339">
              <a:solidFill>
                <a:srgbClr val="231F20"/>
              </a:solidFill>
              <a:latin typeface="TT Firs Neue"/>
              <a:ea typeface="TT Firs Neue"/>
              <a:cs typeface="TT Firs Neue"/>
              <a:sym typeface="TT Firs Neue"/>
            </a:endParaRPr>
          </a:p>
          <a:p>
            <a:pPr marL="504999" lvl="1" indent="-252499" algn="l">
              <a:lnSpc>
                <a:spcPts val="3274"/>
              </a:lnSpc>
              <a:buFont typeface="Arial"/>
              <a:buChar char="•"/>
            </a:pPr>
            <a:r>
              <a:rPr lang="en-US" sz="2339">
                <a:solidFill>
                  <a:srgbClr val="231F20"/>
                </a:solidFill>
                <a:latin typeface="TT Firs Neue"/>
                <a:ea typeface="TT Firs Neue"/>
                <a:cs typeface="TT Firs Neue"/>
                <a:sym typeface="TT Firs Neue"/>
              </a:rPr>
              <a:t>Increased administrative workload and reduced efficiency</a:t>
            </a:r>
          </a:p>
          <a:p>
            <a:pPr marL="0" lvl="0" indent="0" algn="l">
              <a:lnSpc>
                <a:spcPts val="3274"/>
              </a:lnSpc>
            </a:pPr>
            <a:endParaRPr lang="en-US" sz="2339">
              <a:solidFill>
                <a:srgbClr val="231F20"/>
              </a:solidFill>
              <a:latin typeface="TT Firs Neue"/>
              <a:ea typeface="TT Firs Neue"/>
              <a:cs typeface="TT Firs Neue"/>
              <a:sym typeface="TT Firs Neue"/>
            </a:endParaRPr>
          </a:p>
        </p:txBody>
      </p:sp>
    </p:spTree>
  </p:cSld>
  <p:clrMapOvr>
    <a:masterClrMapping/>
  </p:clrMapOvr>
  <p:transition spd="slow">
    <p:push dir="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07913" y="3395024"/>
            <a:ext cx="15496086" cy="6019783"/>
          </a:xfrm>
          <a:custGeom>
            <a:avLst/>
            <a:gdLst/>
            <a:ahLst/>
            <a:cxnLst/>
            <a:rect l="l" t="t" r="r" b="b"/>
            <a:pathLst>
              <a:path w="15496086" h="6019783">
                <a:moveTo>
                  <a:pt x="0" y="0"/>
                </a:moveTo>
                <a:lnTo>
                  <a:pt x="15496087" y="0"/>
                </a:lnTo>
                <a:lnTo>
                  <a:pt x="15496087" y="6019783"/>
                </a:lnTo>
                <a:lnTo>
                  <a:pt x="0" y="6019783"/>
                </a:lnTo>
                <a:lnTo>
                  <a:pt x="0" y="0"/>
                </a:lnTo>
                <a:close/>
              </a:path>
            </a:pathLst>
          </a:custGeom>
          <a:blipFill>
            <a:blip r:embed="rId2"/>
            <a:stretch>
              <a:fillRect l="-17043" t="-46614" r="-2949" b="-27133"/>
            </a:stretch>
          </a:blipFill>
        </p:spPr>
        <p:txBody>
          <a:bodyPr/>
          <a:lstStyle/>
          <a:p>
            <a:endParaRPr lang="en-US"/>
          </a:p>
        </p:txBody>
      </p:sp>
      <p:sp>
        <p:nvSpPr>
          <p:cNvPr id="3" name="Freeform 3"/>
          <p:cNvSpPr/>
          <p:nvPr/>
        </p:nvSpPr>
        <p:spPr>
          <a:xfrm rot="-10800000">
            <a:off x="13272382" y="6070019"/>
            <a:ext cx="5015618" cy="4216981"/>
          </a:xfrm>
          <a:custGeom>
            <a:avLst/>
            <a:gdLst/>
            <a:ahLst/>
            <a:cxnLst/>
            <a:rect l="l" t="t" r="r" b="b"/>
            <a:pathLst>
              <a:path w="5015618" h="4216981">
                <a:moveTo>
                  <a:pt x="0" y="0"/>
                </a:moveTo>
                <a:lnTo>
                  <a:pt x="5015618" y="0"/>
                </a:lnTo>
                <a:lnTo>
                  <a:pt x="5015618" y="4216981"/>
                </a:lnTo>
                <a:lnTo>
                  <a:pt x="0" y="4216981"/>
                </a:lnTo>
                <a:lnTo>
                  <a:pt x="0" y="0"/>
                </a:lnTo>
                <a:close/>
              </a:path>
            </a:pathLst>
          </a:custGeom>
          <a:blipFill>
            <a:blip r:embed="rId3"/>
            <a:stretch>
              <a:fillRect/>
            </a:stretch>
          </a:blipFill>
        </p:spPr>
        <p:txBody>
          <a:bodyPr/>
          <a:lstStyle/>
          <a:p>
            <a:endParaRPr lang="en-US"/>
          </a:p>
        </p:txBody>
      </p:sp>
      <p:sp>
        <p:nvSpPr>
          <p:cNvPr id="4" name="Freeform 4"/>
          <p:cNvSpPr/>
          <p:nvPr/>
        </p:nvSpPr>
        <p:spPr>
          <a:xfrm>
            <a:off x="1203593" y="9258300"/>
            <a:ext cx="1859075" cy="574623"/>
          </a:xfrm>
          <a:custGeom>
            <a:avLst/>
            <a:gdLst/>
            <a:ahLst/>
            <a:cxnLst/>
            <a:rect l="l" t="t" r="r" b="b"/>
            <a:pathLst>
              <a:path w="1859075" h="574623">
                <a:moveTo>
                  <a:pt x="0" y="0"/>
                </a:moveTo>
                <a:lnTo>
                  <a:pt x="1859075" y="0"/>
                </a:lnTo>
                <a:lnTo>
                  <a:pt x="1859075" y="574623"/>
                </a:lnTo>
                <a:lnTo>
                  <a:pt x="0" y="574623"/>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en-US"/>
          </a:p>
        </p:txBody>
      </p:sp>
      <p:sp>
        <p:nvSpPr>
          <p:cNvPr id="5" name="Freeform 5"/>
          <p:cNvSpPr/>
          <p:nvPr/>
        </p:nvSpPr>
        <p:spPr>
          <a:xfrm>
            <a:off x="0" y="0"/>
            <a:ext cx="4676931" cy="3932223"/>
          </a:xfrm>
          <a:custGeom>
            <a:avLst/>
            <a:gdLst/>
            <a:ahLst/>
            <a:cxnLst/>
            <a:rect l="l" t="t" r="r" b="b"/>
            <a:pathLst>
              <a:path w="4676931" h="3932223">
                <a:moveTo>
                  <a:pt x="0" y="0"/>
                </a:moveTo>
                <a:lnTo>
                  <a:pt x="4676931" y="0"/>
                </a:lnTo>
                <a:lnTo>
                  <a:pt x="4676931" y="3932223"/>
                </a:lnTo>
                <a:lnTo>
                  <a:pt x="0" y="3932223"/>
                </a:lnTo>
                <a:lnTo>
                  <a:pt x="0" y="0"/>
                </a:lnTo>
                <a:close/>
              </a:path>
            </a:pathLst>
          </a:custGeom>
          <a:blipFill>
            <a:blip r:embed="rId3"/>
            <a:stretch>
              <a:fillRect/>
            </a:stretch>
          </a:blipFill>
        </p:spPr>
        <p:txBody>
          <a:bodyPr/>
          <a:lstStyle/>
          <a:p>
            <a:endParaRPr lang="en-US"/>
          </a:p>
        </p:txBody>
      </p:sp>
      <p:sp>
        <p:nvSpPr>
          <p:cNvPr id="6" name="Freeform 6"/>
          <p:cNvSpPr/>
          <p:nvPr/>
        </p:nvSpPr>
        <p:spPr>
          <a:xfrm>
            <a:off x="5590969" y="212378"/>
            <a:ext cx="1219277" cy="1219277"/>
          </a:xfrm>
          <a:custGeom>
            <a:avLst/>
            <a:gdLst/>
            <a:ahLst/>
            <a:cxnLst/>
            <a:rect l="l" t="t" r="r" b="b"/>
            <a:pathLst>
              <a:path w="1219277" h="1219277">
                <a:moveTo>
                  <a:pt x="0" y="0"/>
                </a:moveTo>
                <a:lnTo>
                  <a:pt x="1219277" y="0"/>
                </a:lnTo>
                <a:lnTo>
                  <a:pt x="1219277" y="1219277"/>
                </a:lnTo>
                <a:lnTo>
                  <a:pt x="0" y="1219277"/>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txBody>
          <a:bodyPr/>
          <a:lstStyle/>
          <a:p>
            <a:endParaRPr lang="en-US" dirty="0"/>
          </a:p>
        </p:txBody>
      </p:sp>
      <p:grpSp>
        <p:nvGrpSpPr>
          <p:cNvPr id="7" name="Group 7"/>
          <p:cNvGrpSpPr/>
          <p:nvPr/>
        </p:nvGrpSpPr>
        <p:grpSpPr>
          <a:xfrm>
            <a:off x="7267010" y="243221"/>
            <a:ext cx="8580225" cy="3533613"/>
            <a:chOff x="0" y="0"/>
            <a:chExt cx="1329301" cy="547449"/>
          </a:xfrm>
        </p:grpSpPr>
        <p:sp>
          <p:nvSpPr>
            <p:cNvPr id="8" name="Freeform 8"/>
            <p:cNvSpPr/>
            <p:nvPr/>
          </p:nvSpPr>
          <p:spPr>
            <a:xfrm>
              <a:off x="0" y="0"/>
              <a:ext cx="1329301" cy="547449"/>
            </a:xfrm>
            <a:custGeom>
              <a:avLst/>
              <a:gdLst/>
              <a:ahLst/>
              <a:cxnLst/>
              <a:rect l="l" t="t" r="r" b="b"/>
              <a:pathLst>
                <a:path w="1329301" h="547449">
                  <a:moveTo>
                    <a:pt x="31580" y="0"/>
                  </a:moveTo>
                  <a:lnTo>
                    <a:pt x="1297721" y="0"/>
                  </a:lnTo>
                  <a:cubicBezTo>
                    <a:pt x="1306097" y="0"/>
                    <a:pt x="1314129" y="3327"/>
                    <a:pt x="1320052" y="9250"/>
                  </a:cubicBezTo>
                  <a:cubicBezTo>
                    <a:pt x="1325974" y="15172"/>
                    <a:pt x="1329301" y="23205"/>
                    <a:pt x="1329301" y="31580"/>
                  </a:cubicBezTo>
                  <a:lnTo>
                    <a:pt x="1329301" y="515869"/>
                  </a:lnTo>
                  <a:cubicBezTo>
                    <a:pt x="1329301" y="533310"/>
                    <a:pt x="1315162" y="547449"/>
                    <a:pt x="1297721" y="547449"/>
                  </a:cubicBezTo>
                  <a:lnTo>
                    <a:pt x="31580" y="547449"/>
                  </a:lnTo>
                  <a:cubicBezTo>
                    <a:pt x="14139" y="547449"/>
                    <a:pt x="0" y="533310"/>
                    <a:pt x="0" y="515869"/>
                  </a:cubicBezTo>
                  <a:lnTo>
                    <a:pt x="0" y="31580"/>
                  </a:lnTo>
                  <a:cubicBezTo>
                    <a:pt x="0" y="14139"/>
                    <a:pt x="14139" y="0"/>
                    <a:pt x="31580" y="0"/>
                  </a:cubicBezTo>
                  <a:close/>
                </a:path>
              </a:pathLst>
            </a:custGeom>
            <a:blipFill>
              <a:blip r:embed="rId8"/>
              <a:stretch>
                <a:fillRect t="-19202" b="-19202"/>
              </a:stretch>
            </a:blipFill>
          </p:spPr>
          <p:txBody>
            <a:bodyPr/>
            <a:lstStyle/>
            <a:p>
              <a:endParaRPr lang="en-US"/>
            </a:p>
          </p:txBody>
        </p:sp>
      </p:grpSp>
      <p:sp>
        <p:nvSpPr>
          <p:cNvPr id="9" name="Freeform 9"/>
          <p:cNvSpPr/>
          <p:nvPr/>
        </p:nvSpPr>
        <p:spPr>
          <a:xfrm>
            <a:off x="16113935" y="-961215"/>
            <a:ext cx="2980768" cy="2980768"/>
          </a:xfrm>
          <a:custGeom>
            <a:avLst/>
            <a:gdLst/>
            <a:ahLst/>
            <a:cxnLst/>
            <a:rect l="l" t="t" r="r" b="b"/>
            <a:pathLst>
              <a:path w="2980768" h="2980768">
                <a:moveTo>
                  <a:pt x="0" y="0"/>
                </a:moveTo>
                <a:lnTo>
                  <a:pt x="2980768" y="0"/>
                </a:lnTo>
                <a:lnTo>
                  <a:pt x="2980768" y="2980768"/>
                </a:lnTo>
                <a:lnTo>
                  <a:pt x="0" y="2980768"/>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txBody>
          <a:bodyPr/>
          <a:lstStyle/>
          <a:p>
            <a:endParaRPr lang="en-US"/>
          </a:p>
        </p:txBody>
      </p:sp>
      <p:sp>
        <p:nvSpPr>
          <p:cNvPr id="10" name="TextBox 10"/>
          <p:cNvSpPr txBox="1"/>
          <p:nvPr/>
        </p:nvSpPr>
        <p:spPr>
          <a:xfrm>
            <a:off x="807913" y="1899030"/>
            <a:ext cx="5798140" cy="706192"/>
          </a:xfrm>
          <a:prstGeom prst="rect">
            <a:avLst/>
          </a:prstGeom>
        </p:spPr>
        <p:txBody>
          <a:bodyPr lIns="0" tIns="0" rIns="0" bIns="0" rtlCol="0" anchor="t">
            <a:spAutoFit/>
          </a:bodyPr>
          <a:lstStyle/>
          <a:p>
            <a:pPr marL="0" lvl="0" indent="0" algn="l">
              <a:lnSpc>
                <a:spcPts val="4552"/>
              </a:lnSpc>
            </a:pPr>
            <a:r>
              <a:rPr lang="en-US" sz="4552" spc="-250">
                <a:solidFill>
                  <a:srgbClr val="231F20"/>
                </a:solidFill>
                <a:latin typeface="Heading Now 71-78"/>
                <a:ea typeface="Heading Now 71-78"/>
                <a:cs typeface="Heading Now 71-78"/>
                <a:sym typeface="Heading Now 71-78"/>
              </a:rPr>
              <a:t>proposed solutions </a:t>
            </a:r>
          </a:p>
        </p:txBody>
      </p:sp>
    </p:spTree>
  </p:cSld>
  <p:clrMapOvr>
    <a:masterClrMapping/>
  </p:clrMapOvr>
  <p:transition spd="slow">
    <p:push dir="u"/>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259082" y="8258082"/>
            <a:ext cx="1000218" cy="1000218"/>
          </a:xfrm>
          <a:custGeom>
            <a:avLst/>
            <a:gdLst/>
            <a:ahLst/>
            <a:cxnLst/>
            <a:rect l="l" t="t" r="r" b="b"/>
            <a:pathLst>
              <a:path w="1000218" h="1000218">
                <a:moveTo>
                  <a:pt x="0" y="0"/>
                </a:moveTo>
                <a:lnTo>
                  <a:pt x="1000218" y="0"/>
                </a:lnTo>
                <a:lnTo>
                  <a:pt x="1000218" y="1000218"/>
                </a:lnTo>
                <a:lnTo>
                  <a:pt x="0" y="1000218"/>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txBody>
          <a:bodyPr/>
          <a:lstStyle/>
          <a:p>
            <a:endParaRPr lang="en-US"/>
          </a:p>
        </p:txBody>
      </p:sp>
      <p:sp>
        <p:nvSpPr>
          <p:cNvPr id="3" name="Freeform 3"/>
          <p:cNvSpPr/>
          <p:nvPr/>
        </p:nvSpPr>
        <p:spPr>
          <a:xfrm>
            <a:off x="1190782" y="3567948"/>
            <a:ext cx="592491" cy="592491"/>
          </a:xfrm>
          <a:custGeom>
            <a:avLst/>
            <a:gdLst/>
            <a:ahLst/>
            <a:cxnLst/>
            <a:rect l="l" t="t" r="r" b="b"/>
            <a:pathLst>
              <a:path w="592491" h="592491">
                <a:moveTo>
                  <a:pt x="0" y="0"/>
                </a:moveTo>
                <a:lnTo>
                  <a:pt x="592491" y="0"/>
                </a:lnTo>
                <a:lnTo>
                  <a:pt x="592491" y="592491"/>
                </a:lnTo>
                <a:lnTo>
                  <a:pt x="0" y="592491"/>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en-US"/>
          </a:p>
        </p:txBody>
      </p:sp>
      <p:sp>
        <p:nvSpPr>
          <p:cNvPr id="4" name="Freeform 4"/>
          <p:cNvSpPr/>
          <p:nvPr/>
        </p:nvSpPr>
        <p:spPr>
          <a:xfrm>
            <a:off x="12999368" y="9258300"/>
            <a:ext cx="1859075" cy="574623"/>
          </a:xfrm>
          <a:custGeom>
            <a:avLst/>
            <a:gdLst/>
            <a:ahLst/>
            <a:cxnLst/>
            <a:rect l="l" t="t" r="r" b="b"/>
            <a:pathLst>
              <a:path w="1859075" h="574623">
                <a:moveTo>
                  <a:pt x="0" y="0"/>
                </a:moveTo>
                <a:lnTo>
                  <a:pt x="1859075" y="0"/>
                </a:lnTo>
                <a:lnTo>
                  <a:pt x="1859075" y="574623"/>
                </a:lnTo>
                <a:lnTo>
                  <a:pt x="0" y="574623"/>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txBody>
          <a:bodyPr/>
          <a:lstStyle/>
          <a:p>
            <a:endParaRPr lang="en-US"/>
          </a:p>
        </p:txBody>
      </p:sp>
      <p:sp>
        <p:nvSpPr>
          <p:cNvPr id="5" name="Freeform 5"/>
          <p:cNvSpPr/>
          <p:nvPr/>
        </p:nvSpPr>
        <p:spPr>
          <a:xfrm>
            <a:off x="-794410" y="-834764"/>
            <a:ext cx="2577682" cy="2577682"/>
          </a:xfrm>
          <a:custGeom>
            <a:avLst/>
            <a:gdLst/>
            <a:ahLst/>
            <a:cxnLst/>
            <a:rect l="l" t="t" r="r" b="b"/>
            <a:pathLst>
              <a:path w="2577682" h="2577682">
                <a:moveTo>
                  <a:pt x="0" y="0"/>
                </a:moveTo>
                <a:lnTo>
                  <a:pt x="2577683" y="0"/>
                </a:lnTo>
                <a:lnTo>
                  <a:pt x="2577683" y="2577682"/>
                </a:lnTo>
                <a:lnTo>
                  <a:pt x="0" y="2577682"/>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txBody>
          <a:bodyPr/>
          <a:lstStyle/>
          <a:p>
            <a:endParaRPr lang="en-US"/>
          </a:p>
        </p:txBody>
      </p:sp>
      <p:sp>
        <p:nvSpPr>
          <p:cNvPr id="6" name="Freeform 6"/>
          <p:cNvSpPr/>
          <p:nvPr/>
        </p:nvSpPr>
        <p:spPr>
          <a:xfrm>
            <a:off x="15977802" y="5809872"/>
            <a:ext cx="795630" cy="795630"/>
          </a:xfrm>
          <a:custGeom>
            <a:avLst/>
            <a:gdLst/>
            <a:ahLst/>
            <a:cxnLst/>
            <a:rect l="l" t="t" r="r" b="b"/>
            <a:pathLst>
              <a:path w="795630" h="795630">
                <a:moveTo>
                  <a:pt x="0" y="0"/>
                </a:moveTo>
                <a:lnTo>
                  <a:pt x="795630" y="0"/>
                </a:lnTo>
                <a:lnTo>
                  <a:pt x="795630" y="795631"/>
                </a:lnTo>
                <a:lnTo>
                  <a:pt x="0" y="795631"/>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en-US"/>
          </a:p>
        </p:txBody>
      </p:sp>
      <p:sp>
        <p:nvSpPr>
          <p:cNvPr id="7" name="Freeform 7"/>
          <p:cNvSpPr/>
          <p:nvPr/>
        </p:nvSpPr>
        <p:spPr>
          <a:xfrm>
            <a:off x="233070" y="9258300"/>
            <a:ext cx="795630" cy="795630"/>
          </a:xfrm>
          <a:custGeom>
            <a:avLst/>
            <a:gdLst/>
            <a:ahLst/>
            <a:cxnLst/>
            <a:rect l="l" t="t" r="r" b="b"/>
            <a:pathLst>
              <a:path w="795630" h="795630">
                <a:moveTo>
                  <a:pt x="0" y="0"/>
                </a:moveTo>
                <a:lnTo>
                  <a:pt x="795630" y="0"/>
                </a:lnTo>
                <a:lnTo>
                  <a:pt x="795630" y="795630"/>
                </a:lnTo>
                <a:lnTo>
                  <a:pt x="0" y="79563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en-US"/>
          </a:p>
        </p:txBody>
      </p:sp>
      <p:sp>
        <p:nvSpPr>
          <p:cNvPr id="8" name="Freeform 8"/>
          <p:cNvSpPr/>
          <p:nvPr/>
        </p:nvSpPr>
        <p:spPr>
          <a:xfrm>
            <a:off x="16259082" y="670728"/>
            <a:ext cx="1028700" cy="1028700"/>
          </a:xfrm>
          <a:custGeom>
            <a:avLst/>
            <a:gdLst/>
            <a:ahLst/>
            <a:cxnLst/>
            <a:rect l="l" t="t" r="r" b="b"/>
            <a:pathLst>
              <a:path w="1028700" h="1028700">
                <a:moveTo>
                  <a:pt x="0" y="0"/>
                </a:moveTo>
                <a:lnTo>
                  <a:pt x="1028700" y="0"/>
                </a:lnTo>
                <a:lnTo>
                  <a:pt x="1028700" y="1028700"/>
                </a:lnTo>
                <a:lnTo>
                  <a:pt x="0" y="1028700"/>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txBody>
          <a:bodyPr/>
          <a:lstStyle/>
          <a:p>
            <a:endParaRPr lang="en-US"/>
          </a:p>
        </p:txBody>
      </p:sp>
      <p:sp>
        <p:nvSpPr>
          <p:cNvPr id="9" name="Freeform 9"/>
          <p:cNvSpPr/>
          <p:nvPr/>
        </p:nvSpPr>
        <p:spPr>
          <a:xfrm>
            <a:off x="3508002" y="1590518"/>
            <a:ext cx="10744995" cy="7667782"/>
          </a:xfrm>
          <a:custGeom>
            <a:avLst/>
            <a:gdLst/>
            <a:ahLst/>
            <a:cxnLst/>
            <a:rect l="l" t="t" r="r" b="b"/>
            <a:pathLst>
              <a:path w="10013239" h="7421735">
                <a:moveTo>
                  <a:pt x="0" y="0"/>
                </a:moveTo>
                <a:lnTo>
                  <a:pt x="10013239" y="0"/>
                </a:lnTo>
                <a:lnTo>
                  <a:pt x="10013239" y="7421735"/>
                </a:lnTo>
                <a:lnTo>
                  <a:pt x="0" y="7421735"/>
                </a:lnTo>
                <a:lnTo>
                  <a:pt x="0" y="0"/>
                </a:lnTo>
                <a:close/>
              </a:path>
            </a:pathLst>
          </a:custGeom>
          <a:blipFill>
            <a:blip r:embed="rId10"/>
            <a:stretch>
              <a:fillRect l="-28968" t="-24704" r="-28590" b="-150029"/>
            </a:stretch>
          </a:blipFill>
        </p:spPr>
        <p:txBody>
          <a:bodyPr/>
          <a:lstStyle/>
          <a:p>
            <a:endParaRPr lang="en-US" dirty="0"/>
          </a:p>
        </p:txBody>
      </p:sp>
      <p:sp>
        <p:nvSpPr>
          <p:cNvPr id="10" name="TextBox 10"/>
          <p:cNvSpPr txBox="1"/>
          <p:nvPr/>
        </p:nvSpPr>
        <p:spPr>
          <a:xfrm>
            <a:off x="2068040" y="425502"/>
            <a:ext cx="8671012" cy="761049"/>
          </a:xfrm>
          <a:prstGeom prst="rect">
            <a:avLst/>
          </a:prstGeom>
        </p:spPr>
        <p:txBody>
          <a:bodyPr lIns="0" tIns="0" rIns="0" bIns="0" rtlCol="0" anchor="t">
            <a:spAutoFit/>
          </a:bodyPr>
          <a:lstStyle/>
          <a:p>
            <a:pPr marL="0" lvl="0" indent="0" algn="l">
              <a:lnSpc>
                <a:spcPts val="4837"/>
              </a:lnSpc>
            </a:pPr>
            <a:r>
              <a:rPr lang="en-US" sz="4837" spc="-266">
                <a:solidFill>
                  <a:srgbClr val="231F20"/>
                </a:solidFill>
                <a:latin typeface="Heading Now 71-78"/>
                <a:ea typeface="Heading Now 71-78"/>
                <a:cs typeface="Heading Now 71-78"/>
                <a:sym typeface="Heading Now 71-78"/>
              </a:rPr>
              <a:t>UX Research : Empathy Map</a:t>
            </a:r>
          </a:p>
        </p:txBody>
      </p:sp>
      <p:sp>
        <p:nvSpPr>
          <p:cNvPr id="11" name="TextBox 11"/>
          <p:cNvSpPr txBox="1"/>
          <p:nvPr/>
        </p:nvSpPr>
        <p:spPr>
          <a:xfrm>
            <a:off x="2216108" y="1420974"/>
            <a:ext cx="5032248" cy="346523"/>
          </a:xfrm>
          <a:prstGeom prst="rect">
            <a:avLst/>
          </a:prstGeom>
        </p:spPr>
        <p:txBody>
          <a:bodyPr lIns="0" tIns="0" rIns="0" bIns="0" rtlCol="0" anchor="t">
            <a:spAutoFit/>
          </a:bodyPr>
          <a:lstStyle/>
          <a:p>
            <a:pPr marL="0" lvl="0" indent="0" algn="l">
              <a:lnSpc>
                <a:spcPts val="2950"/>
              </a:lnSpc>
            </a:pPr>
            <a:r>
              <a:rPr lang="en-US" sz="2107" b="1">
                <a:solidFill>
                  <a:srgbClr val="231F20"/>
                </a:solidFill>
                <a:latin typeface="TT Firs Neue Bold"/>
                <a:ea typeface="TT Firs Neue Bold"/>
                <a:cs typeface="TT Firs Neue Bold"/>
                <a:sym typeface="TT Firs Neue Bold"/>
              </a:rPr>
              <a:t>Student</a:t>
            </a:r>
          </a:p>
        </p:txBody>
      </p:sp>
    </p:spTree>
  </p:cSld>
  <p:clrMapOvr>
    <a:masterClrMapping/>
  </p:clrMapOvr>
  <p:transition spd="slow">
    <p:cove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259082" y="8258082"/>
            <a:ext cx="1000218" cy="1000218"/>
          </a:xfrm>
          <a:custGeom>
            <a:avLst/>
            <a:gdLst/>
            <a:ahLst/>
            <a:cxnLst/>
            <a:rect l="l" t="t" r="r" b="b"/>
            <a:pathLst>
              <a:path w="1000218" h="1000218">
                <a:moveTo>
                  <a:pt x="0" y="0"/>
                </a:moveTo>
                <a:lnTo>
                  <a:pt x="1000218" y="0"/>
                </a:lnTo>
                <a:lnTo>
                  <a:pt x="1000218" y="1000218"/>
                </a:lnTo>
                <a:lnTo>
                  <a:pt x="0" y="1000218"/>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txBody>
          <a:bodyPr/>
          <a:lstStyle/>
          <a:p>
            <a:endParaRPr lang="en-US"/>
          </a:p>
        </p:txBody>
      </p:sp>
      <p:sp>
        <p:nvSpPr>
          <p:cNvPr id="3" name="Freeform 3"/>
          <p:cNvSpPr/>
          <p:nvPr/>
        </p:nvSpPr>
        <p:spPr>
          <a:xfrm>
            <a:off x="12999368" y="9258300"/>
            <a:ext cx="1859075" cy="574623"/>
          </a:xfrm>
          <a:custGeom>
            <a:avLst/>
            <a:gdLst/>
            <a:ahLst/>
            <a:cxnLst/>
            <a:rect l="l" t="t" r="r" b="b"/>
            <a:pathLst>
              <a:path w="1859075" h="574623">
                <a:moveTo>
                  <a:pt x="0" y="0"/>
                </a:moveTo>
                <a:lnTo>
                  <a:pt x="1859075" y="0"/>
                </a:lnTo>
                <a:lnTo>
                  <a:pt x="1859075" y="574623"/>
                </a:lnTo>
                <a:lnTo>
                  <a:pt x="0" y="574623"/>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en-US"/>
          </a:p>
        </p:txBody>
      </p:sp>
      <p:sp>
        <p:nvSpPr>
          <p:cNvPr id="4" name="Freeform 4"/>
          <p:cNvSpPr/>
          <p:nvPr/>
        </p:nvSpPr>
        <p:spPr>
          <a:xfrm>
            <a:off x="-794410" y="-834764"/>
            <a:ext cx="2577682" cy="2577682"/>
          </a:xfrm>
          <a:custGeom>
            <a:avLst/>
            <a:gdLst/>
            <a:ahLst/>
            <a:cxnLst/>
            <a:rect l="l" t="t" r="r" b="b"/>
            <a:pathLst>
              <a:path w="2577682" h="2577682">
                <a:moveTo>
                  <a:pt x="0" y="0"/>
                </a:moveTo>
                <a:lnTo>
                  <a:pt x="2577683" y="0"/>
                </a:lnTo>
                <a:lnTo>
                  <a:pt x="2577683" y="2577682"/>
                </a:lnTo>
                <a:lnTo>
                  <a:pt x="0" y="2577682"/>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txBody>
          <a:bodyPr/>
          <a:lstStyle/>
          <a:p>
            <a:endParaRPr lang="en-US"/>
          </a:p>
        </p:txBody>
      </p:sp>
      <p:sp>
        <p:nvSpPr>
          <p:cNvPr id="5" name="Freeform 5"/>
          <p:cNvSpPr/>
          <p:nvPr/>
        </p:nvSpPr>
        <p:spPr>
          <a:xfrm>
            <a:off x="15463452" y="4745685"/>
            <a:ext cx="795630" cy="795630"/>
          </a:xfrm>
          <a:custGeom>
            <a:avLst/>
            <a:gdLst/>
            <a:ahLst/>
            <a:cxnLst/>
            <a:rect l="l" t="t" r="r" b="b"/>
            <a:pathLst>
              <a:path w="795630" h="795630">
                <a:moveTo>
                  <a:pt x="0" y="0"/>
                </a:moveTo>
                <a:lnTo>
                  <a:pt x="795630" y="0"/>
                </a:lnTo>
                <a:lnTo>
                  <a:pt x="795630" y="795630"/>
                </a:lnTo>
                <a:lnTo>
                  <a:pt x="0" y="795630"/>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txBody>
          <a:bodyPr/>
          <a:lstStyle/>
          <a:p>
            <a:endParaRPr lang="en-US"/>
          </a:p>
        </p:txBody>
      </p:sp>
      <p:sp>
        <p:nvSpPr>
          <p:cNvPr id="6" name="Freeform 6"/>
          <p:cNvSpPr/>
          <p:nvPr/>
        </p:nvSpPr>
        <p:spPr>
          <a:xfrm>
            <a:off x="16259082" y="670728"/>
            <a:ext cx="1028700" cy="1028700"/>
          </a:xfrm>
          <a:custGeom>
            <a:avLst/>
            <a:gdLst/>
            <a:ahLst/>
            <a:cxnLst/>
            <a:rect l="l" t="t" r="r" b="b"/>
            <a:pathLst>
              <a:path w="1028700" h="1028700">
                <a:moveTo>
                  <a:pt x="0" y="0"/>
                </a:moveTo>
                <a:lnTo>
                  <a:pt x="1028700" y="0"/>
                </a:lnTo>
                <a:lnTo>
                  <a:pt x="1028700" y="1028700"/>
                </a:lnTo>
                <a:lnTo>
                  <a:pt x="0" y="1028700"/>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txBody>
          <a:bodyPr/>
          <a:lstStyle/>
          <a:p>
            <a:endParaRPr lang="en-US"/>
          </a:p>
        </p:txBody>
      </p:sp>
      <p:sp>
        <p:nvSpPr>
          <p:cNvPr id="7" name="Freeform 7"/>
          <p:cNvSpPr/>
          <p:nvPr/>
        </p:nvSpPr>
        <p:spPr>
          <a:xfrm>
            <a:off x="3631875" y="1788048"/>
            <a:ext cx="9974847" cy="7349981"/>
          </a:xfrm>
          <a:custGeom>
            <a:avLst/>
            <a:gdLst/>
            <a:ahLst/>
            <a:cxnLst/>
            <a:rect l="l" t="t" r="r" b="b"/>
            <a:pathLst>
              <a:path w="9974847" h="7349981">
                <a:moveTo>
                  <a:pt x="0" y="0"/>
                </a:moveTo>
                <a:lnTo>
                  <a:pt x="9974847" y="0"/>
                </a:lnTo>
                <a:lnTo>
                  <a:pt x="9974847" y="7349981"/>
                </a:lnTo>
                <a:lnTo>
                  <a:pt x="0" y="7349981"/>
                </a:lnTo>
                <a:lnTo>
                  <a:pt x="0" y="0"/>
                </a:lnTo>
                <a:close/>
              </a:path>
            </a:pathLst>
          </a:custGeom>
          <a:blipFill>
            <a:blip r:embed="rId10"/>
            <a:stretch>
              <a:fillRect l="-28534" t="-149713" r="-27786" b="-24467"/>
            </a:stretch>
          </a:blipFill>
        </p:spPr>
        <p:txBody>
          <a:bodyPr/>
          <a:lstStyle/>
          <a:p>
            <a:endParaRPr lang="en-US"/>
          </a:p>
        </p:txBody>
      </p:sp>
      <p:sp>
        <p:nvSpPr>
          <p:cNvPr id="8" name="TextBox 8"/>
          <p:cNvSpPr txBox="1"/>
          <p:nvPr/>
        </p:nvSpPr>
        <p:spPr>
          <a:xfrm>
            <a:off x="2216108" y="372269"/>
            <a:ext cx="8826209" cy="1077280"/>
          </a:xfrm>
          <a:prstGeom prst="rect">
            <a:avLst/>
          </a:prstGeom>
        </p:spPr>
        <p:txBody>
          <a:bodyPr lIns="0" tIns="0" rIns="0" bIns="0" rtlCol="0" anchor="t">
            <a:spAutoFit/>
          </a:bodyPr>
          <a:lstStyle/>
          <a:p>
            <a:pPr marL="0" lvl="0" indent="0" algn="l">
              <a:lnSpc>
                <a:spcPts val="4837"/>
              </a:lnSpc>
            </a:pPr>
            <a:r>
              <a:rPr lang="en-US" sz="4837" spc="-266">
                <a:solidFill>
                  <a:srgbClr val="231F20"/>
                </a:solidFill>
                <a:latin typeface="Heading Now 71-78"/>
                <a:ea typeface="Heading Now 71-78"/>
                <a:cs typeface="Heading Now 71-78"/>
                <a:sym typeface="Heading Now 71-78"/>
              </a:rPr>
              <a:t>UX Research : Empathy Map</a:t>
            </a:r>
          </a:p>
          <a:p>
            <a:pPr marL="0" lvl="0" indent="0" algn="l">
              <a:lnSpc>
                <a:spcPts val="2737"/>
              </a:lnSpc>
            </a:pPr>
            <a:endParaRPr lang="en-US" sz="4837" spc="-266">
              <a:solidFill>
                <a:srgbClr val="231F20"/>
              </a:solidFill>
              <a:latin typeface="Heading Now 71-78"/>
              <a:ea typeface="Heading Now 71-78"/>
              <a:cs typeface="Heading Now 71-78"/>
              <a:sym typeface="Heading Now 71-78"/>
            </a:endParaRPr>
          </a:p>
        </p:txBody>
      </p:sp>
      <p:sp>
        <p:nvSpPr>
          <p:cNvPr id="9" name="TextBox 9"/>
          <p:cNvSpPr txBox="1"/>
          <p:nvPr/>
        </p:nvSpPr>
        <p:spPr>
          <a:xfrm>
            <a:off x="2216108" y="1420974"/>
            <a:ext cx="5032248" cy="346523"/>
          </a:xfrm>
          <a:prstGeom prst="rect">
            <a:avLst/>
          </a:prstGeom>
        </p:spPr>
        <p:txBody>
          <a:bodyPr lIns="0" tIns="0" rIns="0" bIns="0" rtlCol="0" anchor="t">
            <a:spAutoFit/>
          </a:bodyPr>
          <a:lstStyle/>
          <a:p>
            <a:pPr marL="0" lvl="0" indent="0" algn="l">
              <a:lnSpc>
                <a:spcPts val="2950"/>
              </a:lnSpc>
            </a:pPr>
            <a:r>
              <a:rPr lang="en-US" sz="2107" b="1">
                <a:solidFill>
                  <a:srgbClr val="231F20"/>
                </a:solidFill>
                <a:latin typeface="TT Firs Neue Bold"/>
                <a:ea typeface="TT Firs Neue Bold"/>
                <a:cs typeface="TT Firs Neue Bold"/>
                <a:sym typeface="TT Firs Neue Bold"/>
              </a:rPr>
              <a:t>Instructor</a:t>
            </a:r>
          </a:p>
        </p:txBody>
      </p:sp>
    </p:spTree>
  </p:cSld>
  <p:clrMapOvr>
    <a:masterClrMapping/>
  </p:clrMapOvr>
  <p:transition spd="slow">
    <p:cove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933337" y="8917088"/>
            <a:ext cx="795630" cy="795630"/>
          </a:xfrm>
          <a:custGeom>
            <a:avLst/>
            <a:gdLst/>
            <a:ahLst/>
            <a:cxnLst/>
            <a:rect l="l" t="t" r="r" b="b"/>
            <a:pathLst>
              <a:path w="795630" h="795630">
                <a:moveTo>
                  <a:pt x="0" y="0"/>
                </a:moveTo>
                <a:lnTo>
                  <a:pt x="795630" y="0"/>
                </a:lnTo>
                <a:lnTo>
                  <a:pt x="795630" y="795630"/>
                </a:lnTo>
                <a:lnTo>
                  <a:pt x="0" y="79563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US"/>
          </a:p>
        </p:txBody>
      </p:sp>
      <p:sp>
        <p:nvSpPr>
          <p:cNvPr id="3" name="Freeform 3"/>
          <p:cNvSpPr/>
          <p:nvPr/>
        </p:nvSpPr>
        <p:spPr>
          <a:xfrm>
            <a:off x="6939264" y="741388"/>
            <a:ext cx="1859075" cy="574623"/>
          </a:xfrm>
          <a:custGeom>
            <a:avLst/>
            <a:gdLst/>
            <a:ahLst/>
            <a:cxnLst/>
            <a:rect l="l" t="t" r="r" b="b"/>
            <a:pathLst>
              <a:path w="1859075" h="574623">
                <a:moveTo>
                  <a:pt x="0" y="0"/>
                </a:moveTo>
                <a:lnTo>
                  <a:pt x="1859075" y="0"/>
                </a:lnTo>
                <a:lnTo>
                  <a:pt x="1859075" y="574624"/>
                </a:lnTo>
                <a:lnTo>
                  <a:pt x="0" y="574624"/>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en-US"/>
          </a:p>
        </p:txBody>
      </p:sp>
      <p:sp>
        <p:nvSpPr>
          <p:cNvPr id="4" name="Freeform 4"/>
          <p:cNvSpPr/>
          <p:nvPr/>
        </p:nvSpPr>
        <p:spPr>
          <a:xfrm>
            <a:off x="-875434" y="8282774"/>
            <a:ext cx="2859888" cy="2859888"/>
          </a:xfrm>
          <a:custGeom>
            <a:avLst/>
            <a:gdLst/>
            <a:ahLst/>
            <a:cxnLst/>
            <a:rect l="l" t="t" r="r" b="b"/>
            <a:pathLst>
              <a:path w="2859888" h="2859888">
                <a:moveTo>
                  <a:pt x="0" y="0"/>
                </a:moveTo>
                <a:lnTo>
                  <a:pt x="2859888" y="0"/>
                </a:lnTo>
                <a:lnTo>
                  <a:pt x="2859888" y="2859888"/>
                </a:lnTo>
                <a:lnTo>
                  <a:pt x="0" y="2859888"/>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txBody>
          <a:bodyPr/>
          <a:lstStyle/>
          <a:p>
            <a:endParaRPr lang="en-US"/>
          </a:p>
        </p:txBody>
      </p:sp>
      <p:sp>
        <p:nvSpPr>
          <p:cNvPr id="5" name="Freeform 5"/>
          <p:cNvSpPr/>
          <p:nvPr/>
        </p:nvSpPr>
        <p:spPr>
          <a:xfrm>
            <a:off x="268760" y="2689427"/>
            <a:ext cx="795630" cy="795630"/>
          </a:xfrm>
          <a:custGeom>
            <a:avLst/>
            <a:gdLst/>
            <a:ahLst/>
            <a:cxnLst/>
            <a:rect l="l" t="t" r="r" b="b"/>
            <a:pathLst>
              <a:path w="795630" h="795630">
                <a:moveTo>
                  <a:pt x="0" y="0"/>
                </a:moveTo>
                <a:lnTo>
                  <a:pt x="795630" y="0"/>
                </a:lnTo>
                <a:lnTo>
                  <a:pt x="795630" y="795631"/>
                </a:lnTo>
                <a:lnTo>
                  <a:pt x="0" y="795631"/>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US"/>
          </a:p>
        </p:txBody>
      </p:sp>
      <p:sp>
        <p:nvSpPr>
          <p:cNvPr id="6" name="Freeform 6"/>
          <p:cNvSpPr/>
          <p:nvPr/>
        </p:nvSpPr>
        <p:spPr>
          <a:xfrm>
            <a:off x="1969939" y="472097"/>
            <a:ext cx="907361" cy="907361"/>
          </a:xfrm>
          <a:custGeom>
            <a:avLst/>
            <a:gdLst/>
            <a:ahLst/>
            <a:cxnLst/>
            <a:rect l="l" t="t" r="r" b="b"/>
            <a:pathLst>
              <a:path w="907361" h="907361">
                <a:moveTo>
                  <a:pt x="0" y="0"/>
                </a:moveTo>
                <a:lnTo>
                  <a:pt x="907361" y="0"/>
                </a:lnTo>
                <a:lnTo>
                  <a:pt x="907361" y="907360"/>
                </a:lnTo>
                <a:lnTo>
                  <a:pt x="0" y="907360"/>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txBody>
          <a:bodyPr/>
          <a:lstStyle/>
          <a:p>
            <a:endParaRPr lang="en-US"/>
          </a:p>
        </p:txBody>
      </p:sp>
      <p:sp>
        <p:nvSpPr>
          <p:cNvPr id="7" name="Freeform 7"/>
          <p:cNvSpPr/>
          <p:nvPr/>
        </p:nvSpPr>
        <p:spPr>
          <a:xfrm>
            <a:off x="9390134" y="1088569"/>
            <a:ext cx="907361" cy="907361"/>
          </a:xfrm>
          <a:custGeom>
            <a:avLst/>
            <a:gdLst/>
            <a:ahLst/>
            <a:cxnLst/>
            <a:rect l="l" t="t" r="r" b="b"/>
            <a:pathLst>
              <a:path w="907361" h="907361">
                <a:moveTo>
                  <a:pt x="0" y="0"/>
                </a:moveTo>
                <a:lnTo>
                  <a:pt x="907361" y="0"/>
                </a:lnTo>
                <a:lnTo>
                  <a:pt x="907361" y="907361"/>
                </a:lnTo>
                <a:lnTo>
                  <a:pt x="0" y="907361"/>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txBody>
          <a:bodyPr/>
          <a:lstStyle/>
          <a:p>
            <a:endParaRPr lang="en-US"/>
          </a:p>
        </p:txBody>
      </p:sp>
      <p:sp>
        <p:nvSpPr>
          <p:cNvPr id="8" name="Freeform 8"/>
          <p:cNvSpPr/>
          <p:nvPr/>
        </p:nvSpPr>
        <p:spPr>
          <a:xfrm>
            <a:off x="7289006" y="2005455"/>
            <a:ext cx="10962213" cy="8396135"/>
          </a:xfrm>
          <a:custGeom>
            <a:avLst/>
            <a:gdLst/>
            <a:ahLst/>
            <a:cxnLst/>
            <a:rect l="l" t="t" r="r" b="b"/>
            <a:pathLst>
              <a:path w="10962213" h="8396135">
                <a:moveTo>
                  <a:pt x="0" y="0"/>
                </a:moveTo>
                <a:lnTo>
                  <a:pt x="10962213" y="0"/>
                </a:lnTo>
                <a:lnTo>
                  <a:pt x="10962213" y="8396135"/>
                </a:lnTo>
                <a:lnTo>
                  <a:pt x="0" y="8396135"/>
                </a:lnTo>
                <a:lnTo>
                  <a:pt x="0" y="0"/>
                </a:lnTo>
                <a:close/>
              </a:path>
            </a:pathLst>
          </a:custGeom>
          <a:blipFill>
            <a:blip r:embed="rId8"/>
            <a:stretch>
              <a:fillRect l="-1061" r="-1061"/>
            </a:stretch>
          </a:blipFill>
        </p:spPr>
        <p:txBody>
          <a:bodyPr/>
          <a:lstStyle/>
          <a:p>
            <a:endParaRPr lang="en-US"/>
          </a:p>
        </p:txBody>
      </p:sp>
      <p:sp>
        <p:nvSpPr>
          <p:cNvPr id="9" name="TextBox 9"/>
          <p:cNvSpPr txBox="1"/>
          <p:nvPr/>
        </p:nvSpPr>
        <p:spPr>
          <a:xfrm>
            <a:off x="1028700" y="1533014"/>
            <a:ext cx="7162140" cy="906781"/>
          </a:xfrm>
          <a:prstGeom prst="rect">
            <a:avLst/>
          </a:prstGeom>
        </p:spPr>
        <p:txBody>
          <a:bodyPr lIns="0" tIns="0" rIns="0" bIns="0" rtlCol="0" anchor="t">
            <a:spAutoFit/>
          </a:bodyPr>
          <a:lstStyle/>
          <a:p>
            <a:pPr marL="0" lvl="0" indent="0" algn="l">
              <a:lnSpc>
                <a:spcPts val="5700"/>
              </a:lnSpc>
            </a:pPr>
            <a:r>
              <a:rPr lang="en-US" sz="5700" spc="-313">
                <a:solidFill>
                  <a:srgbClr val="231F20"/>
                </a:solidFill>
                <a:latin typeface="Heading Now 71-78"/>
                <a:ea typeface="Heading Now 71-78"/>
                <a:cs typeface="Heading Now 71-78"/>
                <a:sym typeface="Heading Now 71-78"/>
              </a:rPr>
              <a:t>Student Persona</a:t>
            </a:r>
          </a:p>
        </p:txBody>
      </p:sp>
      <p:sp>
        <p:nvSpPr>
          <p:cNvPr id="10" name="TextBox 10"/>
          <p:cNvSpPr txBox="1"/>
          <p:nvPr/>
        </p:nvSpPr>
        <p:spPr>
          <a:xfrm>
            <a:off x="666575" y="3150857"/>
            <a:ext cx="6272689" cy="4737525"/>
          </a:xfrm>
          <a:prstGeom prst="rect">
            <a:avLst/>
          </a:prstGeom>
        </p:spPr>
        <p:txBody>
          <a:bodyPr lIns="0" tIns="0" rIns="0" bIns="0" rtlCol="0" anchor="t">
            <a:spAutoFit/>
          </a:bodyPr>
          <a:lstStyle/>
          <a:p>
            <a:pPr marL="0" lvl="0" indent="0" algn="l">
              <a:lnSpc>
                <a:spcPts val="3966"/>
              </a:lnSpc>
            </a:pPr>
            <a:endParaRPr/>
          </a:p>
          <a:p>
            <a:pPr marL="0" lvl="0" indent="0" algn="l">
              <a:lnSpc>
                <a:spcPts val="3406"/>
              </a:lnSpc>
            </a:pPr>
            <a:endParaRPr/>
          </a:p>
          <a:p>
            <a:pPr marL="0" lvl="0" indent="0" algn="l">
              <a:lnSpc>
                <a:spcPts val="4246"/>
              </a:lnSpc>
            </a:pPr>
            <a:r>
              <a:rPr lang="en-US" sz="3033">
                <a:solidFill>
                  <a:srgbClr val="231F20"/>
                </a:solidFill>
                <a:latin typeface="TT Firs Neue"/>
                <a:ea typeface="TT Firs Neue"/>
                <a:cs typeface="TT Firs Neue"/>
                <a:sym typeface="TT Firs Neue"/>
              </a:rPr>
              <a:t>Sara represents a typical student.</a:t>
            </a:r>
          </a:p>
          <a:p>
            <a:pPr marL="0" lvl="0" indent="0" algn="l">
              <a:lnSpc>
                <a:spcPts val="4246"/>
              </a:lnSpc>
            </a:pPr>
            <a:r>
              <a:rPr lang="en-US" sz="3033">
                <a:solidFill>
                  <a:srgbClr val="231F20"/>
                </a:solidFill>
                <a:latin typeface="TT Firs Neue"/>
                <a:ea typeface="TT Firs Neue"/>
                <a:cs typeface="TT Firs Neue"/>
                <a:sym typeface="TT Firs Neue"/>
              </a:rPr>
              <a:t> She manages multiple courses and needs a simple way to track grades and assignments.</a:t>
            </a:r>
          </a:p>
          <a:p>
            <a:pPr marL="0" lvl="0" indent="0" algn="l">
              <a:lnSpc>
                <a:spcPts val="4246"/>
              </a:lnSpc>
            </a:pPr>
            <a:r>
              <a:rPr lang="en-US" sz="3033">
                <a:solidFill>
                  <a:srgbClr val="231F20"/>
                </a:solidFill>
                <a:latin typeface="TT Firs Neue"/>
                <a:ea typeface="TT Firs Neue"/>
                <a:cs typeface="TT Firs Neue"/>
                <a:sym typeface="TT Firs Neue"/>
              </a:rPr>
              <a:t> Our system helps her stay organized.</a:t>
            </a:r>
          </a:p>
          <a:p>
            <a:pPr marL="0" lvl="0" indent="0" algn="l">
              <a:lnSpc>
                <a:spcPts val="5086"/>
              </a:lnSpc>
            </a:pPr>
            <a:endParaRPr lang="en-US" sz="3033">
              <a:solidFill>
                <a:srgbClr val="231F20"/>
              </a:solidFill>
              <a:latin typeface="TT Firs Neue"/>
              <a:ea typeface="TT Firs Neue"/>
              <a:cs typeface="TT Firs Neue"/>
              <a:sym typeface="TT Firs Neue"/>
            </a:endParaRPr>
          </a:p>
        </p:txBody>
      </p:sp>
    </p:spTree>
  </p:cSld>
  <p:clrMapOvr>
    <a:masterClrMapping/>
  </p:clrMapOvr>
  <p:transition spd="slow">
    <p:cove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933337" y="8917088"/>
            <a:ext cx="795630" cy="795630"/>
          </a:xfrm>
          <a:custGeom>
            <a:avLst/>
            <a:gdLst/>
            <a:ahLst/>
            <a:cxnLst/>
            <a:rect l="l" t="t" r="r" b="b"/>
            <a:pathLst>
              <a:path w="795630" h="795630">
                <a:moveTo>
                  <a:pt x="0" y="0"/>
                </a:moveTo>
                <a:lnTo>
                  <a:pt x="795630" y="0"/>
                </a:lnTo>
                <a:lnTo>
                  <a:pt x="795630" y="795630"/>
                </a:lnTo>
                <a:lnTo>
                  <a:pt x="0" y="79563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US"/>
          </a:p>
        </p:txBody>
      </p:sp>
      <p:sp>
        <p:nvSpPr>
          <p:cNvPr id="3" name="Freeform 3"/>
          <p:cNvSpPr/>
          <p:nvPr/>
        </p:nvSpPr>
        <p:spPr>
          <a:xfrm>
            <a:off x="6939264" y="741388"/>
            <a:ext cx="1859075" cy="574623"/>
          </a:xfrm>
          <a:custGeom>
            <a:avLst/>
            <a:gdLst/>
            <a:ahLst/>
            <a:cxnLst/>
            <a:rect l="l" t="t" r="r" b="b"/>
            <a:pathLst>
              <a:path w="1859075" h="574623">
                <a:moveTo>
                  <a:pt x="0" y="0"/>
                </a:moveTo>
                <a:lnTo>
                  <a:pt x="1859075" y="0"/>
                </a:lnTo>
                <a:lnTo>
                  <a:pt x="1859075" y="574624"/>
                </a:lnTo>
                <a:lnTo>
                  <a:pt x="0" y="574624"/>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en-US"/>
          </a:p>
        </p:txBody>
      </p:sp>
      <p:sp>
        <p:nvSpPr>
          <p:cNvPr id="4" name="Freeform 4"/>
          <p:cNvSpPr/>
          <p:nvPr/>
        </p:nvSpPr>
        <p:spPr>
          <a:xfrm>
            <a:off x="-875434" y="8282774"/>
            <a:ext cx="2859888" cy="2859888"/>
          </a:xfrm>
          <a:custGeom>
            <a:avLst/>
            <a:gdLst/>
            <a:ahLst/>
            <a:cxnLst/>
            <a:rect l="l" t="t" r="r" b="b"/>
            <a:pathLst>
              <a:path w="2859888" h="2859888">
                <a:moveTo>
                  <a:pt x="0" y="0"/>
                </a:moveTo>
                <a:lnTo>
                  <a:pt x="2859888" y="0"/>
                </a:lnTo>
                <a:lnTo>
                  <a:pt x="2859888" y="2859888"/>
                </a:lnTo>
                <a:lnTo>
                  <a:pt x="0" y="2859888"/>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txBody>
          <a:bodyPr/>
          <a:lstStyle/>
          <a:p>
            <a:endParaRPr lang="en-US"/>
          </a:p>
        </p:txBody>
      </p:sp>
      <p:sp>
        <p:nvSpPr>
          <p:cNvPr id="5" name="Freeform 5"/>
          <p:cNvSpPr/>
          <p:nvPr/>
        </p:nvSpPr>
        <p:spPr>
          <a:xfrm>
            <a:off x="268760" y="2689427"/>
            <a:ext cx="795630" cy="795630"/>
          </a:xfrm>
          <a:custGeom>
            <a:avLst/>
            <a:gdLst/>
            <a:ahLst/>
            <a:cxnLst/>
            <a:rect l="l" t="t" r="r" b="b"/>
            <a:pathLst>
              <a:path w="795630" h="795630">
                <a:moveTo>
                  <a:pt x="0" y="0"/>
                </a:moveTo>
                <a:lnTo>
                  <a:pt x="795630" y="0"/>
                </a:lnTo>
                <a:lnTo>
                  <a:pt x="795630" y="795631"/>
                </a:lnTo>
                <a:lnTo>
                  <a:pt x="0" y="795631"/>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US"/>
          </a:p>
        </p:txBody>
      </p:sp>
      <p:sp>
        <p:nvSpPr>
          <p:cNvPr id="6" name="Freeform 6"/>
          <p:cNvSpPr/>
          <p:nvPr/>
        </p:nvSpPr>
        <p:spPr>
          <a:xfrm>
            <a:off x="1969939" y="472097"/>
            <a:ext cx="907361" cy="907361"/>
          </a:xfrm>
          <a:custGeom>
            <a:avLst/>
            <a:gdLst/>
            <a:ahLst/>
            <a:cxnLst/>
            <a:rect l="l" t="t" r="r" b="b"/>
            <a:pathLst>
              <a:path w="907361" h="907361">
                <a:moveTo>
                  <a:pt x="0" y="0"/>
                </a:moveTo>
                <a:lnTo>
                  <a:pt x="907361" y="0"/>
                </a:lnTo>
                <a:lnTo>
                  <a:pt x="907361" y="907360"/>
                </a:lnTo>
                <a:lnTo>
                  <a:pt x="0" y="907360"/>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txBody>
          <a:bodyPr/>
          <a:lstStyle/>
          <a:p>
            <a:endParaRPr lang="en-US"/>
          </a:p>
        </p:txBody>
      </p:sp>
      <p:sp>
        <p:nvSpPr>
          <p:cNvPr id="7" name="Freeform 7"/>
          <p:cNvSpPr/>
          <p:nvPr/>
        </p:nvSpPr>
        <p:spPr>
          <a:xfrm>
            <a:off x="9390134" y="1117434"/>
            <a:ext cx="907361" cy="907361"/>
          </a:xfrm>
          <a:custGeom>
            <a:avLst/>
            <a:gdLst/>
            <a:ahLst/>
            <a:cxnLst/>
            <a:rect l="l" t="t" r="r" b="b"/>
            <a:pathLst>
              <a:path w="907361" h="907361">
                <a:moveTo>
                  <a:pt x="0" y="0"/>
                </a:moveTo>
                <a:lnTo>
                  <a:pt x="907361" y="0"/>
                </a:lnTo>
                <a:lnTo>
                  <a:pt x="907361" y="907361"/>
                </a:lnTo>
                <a:lnTo>
                  <a:pt x="0" y="907361"/>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txBody>
          <a:bodyPr/>
          <a:lstStyle/>
          <a:p>
            <a:endParaRPr lang="en-US"/>
          </a:p>
        </p:txBody>
      </p:sp>
      <p:sp>
        <p:nvSpPr>
          <p:cNvPr id="8" name="Freeform 8"/>
          <p:cNvSpPr/>
          <p:nvPr/>
        </p:nvSpPr>
        <p:spPr>
          <a:xfrm>
            <a:off x="7868801" y="2433542"/>
            <a:ext cx="10438249" cy="7828687"/>
          </a:xfrm>
          <a:custGeom>
            <a:avLst/>
            <a:gdLst/>
            <a:ahLst/>
            <a:cxnLst/>
            <a:rect l="l" t="t" r="r" b="b"/>
            <a:pathLst>
              <a:path w="10438249" h="7828687">
                <a:moveTo>
                  <a:pt x="0" y="0"/>
                </a:moveTo>
                <a:lnTo>
                  <a:pt x="10438249" y="0"/>
                </a:lnTo>
                <a:lnTo>
                  <a:pt x="10438249" y="7828687"/>
                </a:lnTo>
                <a:lnTo>
                  <a:pt x="0" y="7828687"/>
                </a:lnTo>
                <a:lnTo>
                  <a:pt x="0" y="0"/>
                </a:lnTo>
                <a:close/>
              </a:path>
            </a:pathLst>
          </a:custGeom>
          <a:blipFill>
            <a:blip r:embed="rId8"/>
            <a:stretch>
              <a:fillRect/>
            </a:stretch>
          </a:blipFill>
        </p:spPr>
        <p:txBody>
          <a:bodyPr/>
          <a:lstStyle/>
          <a:p>
            <a:endParaRPr lang="en-US"/>
          </a:p>
        </p:txBody>
      </p:sp>
      <p:sp>
        <p:nvSpPr>
          <p:cNvPr id="9" name="TextBox 9"/>
          <p:cNvSpPr txBox="1"/>
          <p:nvPr/>
        </p:nvSpPr>
        <p:spPr>
          <a:xfrm>
            <a:off x="1028700" y="1533014"/>
            <a:ext cx="7162140" cy="906781"/>
          </a:xfrm>
          <a:prstGeom prst="rect">
            <a:avLst/>
          </a:prstGeom>
        </p:spPr>
        <p:txBody>
          <a:bodyPr lIns="0" tIns="0" rIns="0" bIns="0" rtlCol="0" anchor="t">
            <a:spAutoFit/>
          </a:bodyPr>
          <a:lstStyle/>
          <a:p>
            <a:pPr marL="0" lvl="0" indent="0" algn="l">
              <a:lnSpc>
                <a:spcPts val="5700"/>
              </a:lnSpc>
            </a:pPr>
            <a:r>
              <a:rPr lang="en-US" sz="5700" spc="-313">
                <a:solidFill>
                  <a:srgbClr val="231F20"/>
                </a:solidFill>
                <a:latin typeface="Heading Now 71-78"/>
                <a:ea typeface="Heading Now 71-78"/>
                <a:cs typeface="Heading Now 71-78"/>
                <a:sym typeface="Heading Now 71-78"/>
              </a:rPr>
              <a:t>Instructor Persona</a:t>
            </a:r>
          </a:p>
        </p:txBody>
      </p:sp>
      <p:sp>
        <p:nvSpPr>
          <p:cNvPr id="10" name="TextBox 10"/>
          <p:cNvSpPr txBox="1"/>
          <p:nvPr/>
        </p:nvSpPr>
        <p:spPr>
          <a:xfrm>
            <a:off x="1207564" y="2366867"/>
            <a:ext cx="6804411" cy="7186085"/>
          </a:xfrm>
          <a:prstGeom prst="rect">
            <a:avLst/>
          </a:prstGeom>
        </p:spPr>
        <p:txBody>
          <a:bodyPr lIns="0" tIns="0" rIns="0" bIns="0" rtlCol="0" anchor="t">
            <a:spAutoFit/>
          </a:bodyPr>
          <a:lstStyle/>
          <a:p>
            <a:pPr algn="l">
              <a:lnSpc>
                <a:spcPts val="4526"/>
              </a:lnSpc>
            </a:pPr>
            <a:endParaRPr/>
          </a:p>
          <a:p>
            <a:pPr algn="l">
              <a:lnSpc>
                <a:spcPts val="4526"/>
              </a:lnSpc>
            </a:pPr>
            <a:r>
              <a:rPr lang="en-US" sz="3233">
                <a:solidFill>
                  <a:srgbClr val="231F20"/>
                </a:solidFill>
                <a:latin typeface="TT Firs Neue"/>
                <a:ea typeface="TT Firs Neue"/>
                <a:cs typeface="TT Firs Neue"/>
                <a:sym typeface="TT Firs Neue"/>
              </a:rPr>
              <a:t>This persona represents the instructor.</a:t>
            </a:r>
          </a:p>
          <a:p>
            <a:pPr algn="l">
              <a:lnSpc>
                <a:spcPts val="4526"/>
              </a:lnSpc>
            </a:pPr>
            <a:r>
              <a:rPr lang="en-US" sz="3233">
                <a:solidFill>
                  <a:srgbClr val="231F20"/>
                </a:solidFill>
                <a:latin typeface="TT Firs Neue"/>
                <a:ea typeface="TT Firs Neue"/>
                <a:cs typeface="TT Firs Neue"/>
                <a:sym typeface="TT Firs Neue"/>
              </a:rPr>
              <a:t> Dr. Mohamed manages courses, assignments, and grades.</a:t>
            </a:r>
          </a:p>
          <a:p>
            <a:pPr algn="l">
              <a:lnSpc>
                <a:spcPts val="4526"/>
              </a:lnSpc>
            </a:pPr>
            <a:r>
              <a:rPr lang="en-US" sz="3233">
                <a:solidFill>
                  <a:srgbClr val="231F20"/>
                </a:solidFill>
                <a:latin typeface="TT Firs Neue"/>
                <a:ea typeface="TT Firs Neue"/>
                <a:cs typeface="TT Firs Neue"/>
                <a:sym typeface="TT Firs Neue"/>
              </a:rPr>
              <a:t> He needs a simple system to upload materials and submit grades.</a:t>
            </a:r>
          </a:p>
          <a:p>
            <a:pPr algn="l">
              <a:lnSpc>
                <a:spcPts val="4526"/>
              </a:lnSpc>
            </a:pPr>
            <a:r>
              <a:rPr lang="en-US" sz="3233">
                <a:solidFill>
                  <a:srgbClr val="231F20"/>
                </a:solidFill>
                <a:latin typeface="TT Firs Neue"/>
                <a:ea typeface="TT Firs Neue"/>
                <a:cs typeface="TT Firs Neue"/>
                <a:sym typeface="TT Firs Neue"/>
              </a:rPr>
              <a:t> Our system helps him stay organized and save time.</a:t>
            </a:r>
          </a:p>
          <a:p>
            <a:pPr algn="l">
              <a:lnSpc>
                <a:spcPts val="4386"/>
              </a:lnSpc>
            </a:pPr>
            <a:endParaRPr lang="en-US" sz="3233">
              <a:solidFill>
                <a:srgbClr val="231F20"/>
              </a:solidFill>
              <a:latin typeface="TT Firs Neue"/>
              <a:ea typeface="TT Firs Neue"/>
              <a:cs typeface="TT Firs Neue"/>
              <a:sym typeface="TT Firs Neue"/>
            </a:endParaRPr>
          </a:p>
          <a:p>
            <a:pPr marL="0" lvl="0" indent="0" algn="l">
              <a:lnSpc>
                <a:spcPts val="3966"/>
              </a:lnSpc>
            </a:pPr>
            <a:endParaRPr lang="en-US" sz="3233">
              <a:solidFill>
                <a:srgbClr val="231F20"/>
              </a:solidFill>
              <a:latin typeface="TT Firs Neue"/>
              <a:ea typeface="TT Firs Neue"/>
              <a:cs typeface="TT Firs Neue"/>
              <a:sym typeface="TT Firs Neue"/>
            </a:endParaRPr>
          </a:p>
          <a:p>
            <a:pPr marL="0" lvl="0" indent="0" algn="l">
              <a:lnSpc>
                <a:spcPts val="3406"/>
              </a:lnSpc>
            </a:pPr>
            <a:endParaRPr lang="en-US" sz="3233">
              <a:solidFill>
                <a:srgbClr val="231F20"/>
              </a:solidFill>
              <a:latin typeface="TT Firs Neue"/>
              <a:ea typeface="TT Firs Neue"/>
              <a:cs typeface="TT Firs Neue"/>
              <a:sym typeface="TT Firs Neue"/>
            </a:endParaRPr>
          </a:p>
        </p:txBody>
      </p:sp>
    </p:spTree>
  </p:cSld>
  <p:clrMapOvr>
    <a:masterClrMapping/>
  </p:clrMapOvr>
  <p:transition spd="slow">
    <p:cove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436983" y="1625277"/>
            <a:ext cx="676233" cy="676233"/>
          </a:xfrm>
          <a:custGeom>
            <a:avLst/>
            <a:gdLst/>
            <a:ahLst/>
            <a:cxnLst/>
            <a:rect l="l" t="t" r="r" b="b"/>
            <a:pathLst>
              <a:path w="676233" h="676233">
                <a:moveTo>
                  <a:pt x="0" y="0"/>
                </a:moveTo>
                <a:lnTo>
                  <a:pt x="676233" y="0"/>
                </a:lnTo>
                <a:lnTo>
                  <a:pt x="676233" y="676233"/>
                </a:lnTo>
                <a:lnTo>
                  <a:pt x="0" y="676233"/>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US"/>
          </a:p>
        </p:txBody>
      </p:sp>
      <p:sp>
        <p:nvSpPr>
          <p:cNvPr id="3" name="Freeform 3"/>
          <p:cNvSpPr/>
          <p:nvPr/>
        </p:nvSpPr>
        <p:spPr>
          <a:xfrm rot="-10800000">
            <a:off x="14406846" y="7023843"/>
            <a:ext cx="3881154" cy="3263157"/>
          </a:xfrm>
          <a:custGeom>
            <a:avLst/>
            <a:gdLst/>
            <a:ahLst/>
            <a:cxnLst/>
            <a:rect l="l" t="t" r="r" b="b"/>
            <a:pathLst>
              <a:path w="3881154" h="3263157">
                <a:moveTo>
                  <a:pt x="0" y="0"/>
                </a:moveTo>
                <a:lnTo>
                  <a:pt x="3881154" y="0"/>
                </a:lnTo>
                <a:lnTo>
                  <a:pt x="3881154" y="3263157"/>
                </a:lnTo>
                <a:lnTo>
                  <a:pt x="0" y="3263157"/>
                </a:lnTo>
                <a:lnTo>
                  <a:pt x="0" y="0"/>
                </a:lnTo>
                <a:close/>
              </a:path>
            </a:pathLst>
          </a:custGeom>
          <a:blipFill>
            <a:blip r:embed="rId4"/>
            <a:stretch>
              <a:fillRect/>
            </a:stretch>
          </a:blipFill>
        </p:spPr>
        <p:txBody>
          <a:bodyPr/>
          <a:lstStyle/>
          <a:p>
            <a:endParaRPr lang="en-US"/>
          </a:p>
        </p:txBody>
      </p:sp>
      <p:sp>
        <p:nvSpPr>
          <p:cNvPr id="4" name="Freeform 4"/>
          <p:cNvSpPr/>
          <p:nvPr/>
        </p:nvSpPr>
        <p:spPr>
          <a:xfrm>
            <a:off x="14692023" y="682727"/>
            <a:ext cx="795630" cy="795630"/>
          </a:xfrm>
          <a:custGeom>
            <a:avLst/>
            <a:gdLst/>
            <a:ahLst/>
            <a:cxnLst/>
            <a:rect l="l" t="t" r="r" b="b"/>
            <a:pathLst>
              <a:path w="795630" h="795630">
                <a:moveTo>
                  <a:pt x="0" y="0"/>
                </a:moveTo>
                <a:lnTo>
                  <a:pt x="795630" y="0"/>
                </a:lnTo>
                <a:lnTo>
                  <a:pt x="795630" y="795630"/>
                </a:lnTo>
                <a:lnTo>
                  <a:pt x="0" y="795630"/>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txBody>
          <a:bodyPr/>
          <a:lstStyle/>
          <a:p>
            <a:endParaRPr lang="en-US"/>
          </a:p>
        </p:txBody>
      </p:sp>
      <p:sp>
        <p:nvSpPr>
          <p:cNvPr id="5" name="Freeform 5"/>
          <p:cNvSpPr/>
          <p:nvPr/>
        </p:nvSpPr>
        <p:spPr>
          <a:xfrm>
            <a:off x="1198216" y="8970988"/>
            <a:ext cx="1859075" cy="574623"/>
          </a:xfrm>
          <a:custGeom>
            <a:avLst/>
            <a:gdLst/>
            <a:ahLst/>
            <a:cxnLst/>
            <a:rect l="l" t="t" r="r" b="b"/>
            <a:pathLst>
              <a:path w="1859075" h="574623">
                <a:moveTo>
                  <a:pt x="0" y="0"/>
                </a:moveTo>
                <a:lnTo>
                  <a:pt x="1859075" y="0"/>
                </a:lnTo>
                <a:lnTo>
                  <a:pt x="1859075" y="574624"/>
                </a:lnTo>
                <a:lnTo>
                  <a:pt x="0" y="574624"/>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txBody>
          <a:bodyPr/>
          <a:lstStyle/>
          <a:p>
            <a:endParaRPr lang="en-US"/>
          </a:p>
        </p:txBody>
      </p:sp>
      <p:sp>
        <p:nvSpPr>
          <p:cNvPr id="6" name="Freeform 6"/>
          <p:cNvSpPr/>
          <p:nvPr/>
        </p:nvSpPr>
        <p:spPr>
          <a:xfrm>
            <a:off x="0" y="0"/>
            <a:ext cx="4255508" cy="3577903"/>
          </a:xfrm>
          <a:custGeom>
            <a:avLst/>
            <a:gdLst/>
            <a:ahLst/>
            <a:cxnLst/>
            <a:rect l="l" t="t" r="r" b="b"/>
            <a:pathLst>
              <a:path w="4255508" h="3577903">
                <a:moveTo>
                  <a:pt x="0" y="0"/>
                </a:moveTo>
                <a:lnTo>
                  <a:pt x="4255508" y="0"/>
                </a:lnTo>
                <a:lnTo>
                  <a:pt x="4255508" y="3577903"/>
                </a:lnTo>
                <a:lnTo>
                  <a:pt x="0" y="3577903"/>
                </a:lnTo>
                <a:lnTo>
                  <a:pt x="0" y="0"/>
                </a:lnTo>
                <a:close/>
              </a:path>
            </a:pathLst>
          </a:custGeom>
          <a:blipFill>
            <a:blip r:embed="rId4"/>
            <a:stretch>
              <a:fillRect/>
            </a:stretch>
          </a:blipFill>
        </p:spPr>
        <p:txBody>
          <a:bodyPr/>
          <a:lstStyle/>
          <a:p>
            <a:endParaRPr lang="en-US"/>
          </a:p>
        </p:txBody>
      </p:sp>
      <p:sp>
        <p:nvSpPr>
          <p:cNvPr id="7" name="Freeform 7"/>
          <p:cNvSpPr/>
          <p:nvPr/>
        </p:nvSpPr>
        <p:spPr>
          <a:xfrm>
            <a:off x="9558881" y="8648661"/>
            <a:ext cx="1219277" cy="1219277"/>
          </a:xfrm>
          <a:custGeom>
            <a:avLst/>
            <a:gdLst/>
            <a:ahLst/>
            <a:cxnLst/>
            <a:rect l="l" t="t" r="r" b="b"/>
            <a:pathLst>
              <a:path w="1219277" h="1219277">
                <a:moveTo>
                  <a:pt x="0" y="0"/>
                </a:moveTo>
                <a:lnTo>
                  <a:pt x="1219277" y="0"/>
                </a:lnTo>
                <a:lnTo>
                  <a:pt x="1219277" y="1219278"/>
                </a:lnTo>
                <a:lnTo>
                  <a:pt x="0" y="1219278"/>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txBody>
          <a:bodyPr/>
          <a:lstStyle/>
          <a:p>
            <a:endParaRPr lang="en-US"/>
          </a:p>
        </p:txBody>
      </p:sp>
      <p:sp>
        <p:nvSpPr>
          <p:cNvPr id="8" name="Freeform 8"/>
          <p:cNvSpPr/>
          <p:nvPr/>
        </p:nvSpPr>
        <p:spPr>
          <a:xfrm>
            <a:off x="1988640" y="769948"/>
            <a:ext cx="621188" cy="621188"/>
          </a:xfrm>
          <a:custGeom>
            <a:avLst/>
            <a:gdLst/>
            <a:ahLst/>
            <a:cxnLst/>
            <a:rect l="l" t="t" r="r" b="b"/>
            <a:pathLst>
              <a:path w="621188" h="621188">
                <a:moveTo>
                  <a:pt x="0" y="0"/>
                </a:moveTo>
                <a:lnTo>
                  <a:pt x="621188" y="0"/>
                </a:lnTo>
                <a:lnTo>
                  <a:pt x="621188" y="621188"/>
                </a:lnTo>
                <a:lnTo>
                  <a:pt x="0" y="621188"/>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txBody>
          <a:bodyPr/>
          <a:lstStyle/>
          <a:p>
            <a:endParaRPr lang="en-US"/>
          </a:p>
        </p:txBody>
      </p:sp>
      <p:sp>
        <p:nvSpPr>
          <p:cNvPr id="9" name="Freeform 9"/>
          <p:cNvSpPr/>
          <p:nvPr/>
        </p:nvSpPr>
        <p:spPr>
          <a:xfrm>
            <a:off x="253653" y="1923958"/>
            <a:ext cx="3241891" cy="6020655"/>
          </a:xfrm>
          <a:custGeom>
            <a:avLst/>
            <a:gdLst/>
            <a:ahLst/>
            <a:cxnLst/>
            <a:rect l="l" t="t" r="r" b="b"/>
            <a:pathLst>
              <a:path w="3241891" h="6020655">
                <a:moveTo>
                  <a:pt x="0" y="0"/>
                </a:moveTo>
                <a:lnTo>
                  <a:pt x="3241892" y="0"/>
                </a:lnTo>
                <a:lnTo>
                  <a:pt x="3241892" y="6020656"/>
                </a:lnTo>
                <a:lnTo>
                  <a:pt x="0" y="6020656"/>
                </a:lnTo>
                <a:lnTo>
                  <a:pt x="0" y="0"/>
                </a:lnTo>
                <a:close/>
              </a:path>
            </a:pathLst>
          </a:custGeom>
          <a:blipFill>
            <a:blip r:embed="rId11"/>
            <a:stretch>
              <a:fillRect/>
            </a:stretch>
          </a:blipFill>
        </p:spPr>
        <p:txBody>
          <a:bodyPr/>
          <a:lstStyle/>
          <a:p>
            <a:endParaRPr lang="en-US"/>
          </a:p>
        </p:txBody>
      </p:sp>
      <p:sp>
        <p:nvSpPr>
          <p:cNvPr id="10" name="Freeform 10"/>
          <p:cNvSpPr/>
          <p:nvPr/>
        </p:nvSpPr>
        <p:spPr>
          <a:xfrm>
            <a:off x="3176552" y="3625990"/>
            <a:ext cx="3453112" cy="5919621"/>
          </a:xfrm>
          <a:custGeom>
            <a:avLst/>
            <a:gdLst/>
            <a:ahLst/>
            <a:cxnLst/>
            <a:rect l="l" t="t" r="r" b="b"/>
            <a:pathLst>
              <a:path w="3453112" h="5919621">
                <a:moveTo>
                  <a:pt x="0" y="0"/>
                </a:moveTo>
                <a:lnTo>
                  <a:pt x="3453112" y="0"/>
                </a:lnTo>
                <a:lnTo>
                  <a:pt x="3453112" y="5919621"/>
                </a:lnTo>
                <a:lnTo>
                  <a:pt x="0" y="5919621"/>
                </a:lnTo>
                <a:lnTo>
                  <a:pt x="0" y="0"/>
                </a:lnTo>
                <a:close/>
              </a:path>
            </a:pathLst>
          </a:custGeom>
          <a:blipFill>
            <a:blip r:embed="rId12"/>
            <a:stretch>
              <a:fillRect/>
            </a:stretch>
          </a:blipFill>
        </p:spPr>
        <p:txBody>
          <a:bodyPr/>
          <a:lstStyle/>
          <a:p>
            <a:endParaRPr lang="en-US"/>
          </a:p>
        </p:txBody>
      </p:sp>
      <p:sp>
        <p:nvSpPr>
          <p:cNvPr id="11" name="Freeform 11"/>
          <p:cNvSpPr/>
          <p:nvPr/>
        </p:nvSpPr>
        <p:spPr>
          <a:xfrm>
            <a:off x="6412586" y="1608948"/>
            <a:ext cx="3058766" cy="6117531"/>
          </a:xfrm>
          <a:custGeom>
            <a:avLst/>
            <a:gdLst/>
            <a:ahLst/>
            <a:cxnLst/>
            <a:rect l="l" t="t" r="r" b="b"/>
            <a:pathLst>
              <a:path w="3058766" h="6117531">
                <a:moveTo>
                  <a:pt x="0" y="0"/>
                </a:moveTo>
                <a:lnTo>
                  <a:pt x="3058766" y="0"/>
                </a:lnTo>
                <a:lnTo>
                  <a:pt x="3058766" y="6117531"/>
                </a:lnTo>
                <a:lnTo>
                  <a:pt x="0" y="6117531"/>
                </a:lnTo>
                <a:lnTo>
                  <a:pt x="0" y="0"/>
                </a:lnTo>
                <a:close/>
              </a:path>
            </a:pathLst>
          </a:custGeom>
          <a:blipFill>
            <a:blip r:embed="rId13"/>
            <a:stretch>
              <a:fillRect/>
            </a:stretch>
          </a:blipFill>
        </p:spPr>
        <p:txBody>
          <a:bodyPr/>
          <a:lstStyle/>
          <a:p>
            <a:endParaRPr lang="en-US" dirty="0"/>
          </a:p>
        </p:txBody>
      </p:sp>
      <p:sp>
        <p:nvSpPr>
          <p:cNvPr id="12" name="Freeform 12"/>
          <p:cNvSpPr/>
          <p:nvPr/>
        </p:nvSpPr>
        <p:spPr>
          <a:xfrm>
            <a:off x="9678142" y="2928200"/>
            <a:ext cx="3453112" cy="5919621"/>
          </a:xfrm>
          <a:custGeom>
            <a:avLst/>
            <a:gdLst/>
            <a:ahLst/>
            <a:cxnLst/>
            <a:rect l="l" t="t" r="r" b="b"/>
            <a:pathLst>
              <a:path w="3453112" h="5919621">
                <a:moveTo>
                  <a:pt x="0" y="0"/>
                </a:moveTo>
                <a:lnTo>
                  <a:pt x="3453112" y="0"/>
                </a:lnTo>
                <a:lnTo>
                  <a:pt x="3453112" y="5919621"/>
                </a:lnTo>
                <a:lnTo>
                  <a:pt x="0" y="5919621"/>
                </a:lnTo>
                <a:lnTo>
                  <a:pt x="0" y="0"/>
                </a:lnTo>
                <a:close/>
              </a:path>
            </a:pathLst>
          </a:custGeom>
          <a:blipFill>
            <a:blip r:embed="rId14"/>
            <a:stretch>
              <a:fillRect/>
            </a:stretch>
          </a:blipFill>
        </p:spPr>
        <p:txBody>
          <a:bodyPr/>
          <a:lstStyle/>
          <a:p>
            <a:endParaRPr lang="en-US" dirty="0"/>
          </a:p>
        </p:txBody>
      </p:sp>
      <p:sp>
        <p:nvSpPr>
          <p:cNvPr id="13" name="TextBox 13"/>
          <p:cNvSpPr txBox="1"/>
          <p:nvPr/>
        </p:nvSpPr>
        <p:spPr>
          <a:xfrm>
            <a:off x="5886715" y="341244"/>
            <a:ext cx="7176532" cy="679673"/>
          </a:xfrm>
          <a:prstGeom prst="rect">
            <a:avLst/>
          </a:prstGeom>
        </p:spPr>
        <p:txBody>
          <a:bodyPr lIns="0" tIns="0" rIns="0" bIns="0" rtlCol="0" anchor="t">
            <a:spAutoFit/>
          </a:bodyPr>
          <a:lstStyle/>
          <a:p>
            <a:pPr marL="0" lvl="0" indent="0" algn="l">
              <a:lnSpc>
                <a:spcPts val="5256"/>
              </a:lnSpc>
            </a:pPr>
            <a:r>
              <a:rPr lang="en-US" sz="5256" spc="-289" smtClean="0">
                <a:solidFill>
                  <a:srgbClr val="231F20"/>
                </a:solidFill>
                <a:latin typeface="Heading Now 71-78"/>
                <a:ea typeface="Heading Now 71-78"/>
                <a:cs typeface="Heading Now 71-78"/>
                <a:sym typeface="Heading Now 71-78"/>
              </a:rPr>
              <a:t>Wireframe </a:t>
            </a:r>
            <a:r>
              <a:rPr lang="en-US" sz="5256" spc="-289" dirty="0">
                <a:solidFill>
                  <a:srgbClr val="231F20"/>
                </a:solidFill>
                <a:latin typeface="Heading Now 71-78"/>
                <a:ea typeface="Heading Now 71-78"/>
                <a:cs typeface="Heading Now 71-78"/>
                <a:sym typeface="Heading Now 71-78"/>
              </a:rPr>
              <a:t>Overview</a:t>
            </a:r>
          </a:p>
        </p:txBody>
      </p:sp>
      <p:pic>
        <p:nvPicPr>
          <p:cNvPr id="15" name="Picture 14" descr="A screenshot of a blue screen&#10;&#10;AI-generated content may be incorrect.">
            <a:extLst>
              <a:ext uri="{FF2B5EF4-FFF2-40B4-BE49-F238E27FC236}">
                <a16:creationId xmlns:a16="http://schemas.microsoft.com/office/drawing/2014/main" xmlns="" id="{80D65BEA-97D3-D0CC-38CB-1082D600D75F}"/>
              </a:ext>
            </a:extLst>
          </p:cNvPr>
          <p:cNvPicPr>
            <a:picLocks noChangeAspect="1"/>
          </p:cNvPicPr>
          <p:nvPr/>
        </p:nvPicPr>
        <p:blipFill>
          <a:blip r:embed="rId15" cstate="print">
            <a:extLst>
              <a:ext uri="{28A0092B-C50C-407E-A947-70E740481C1C}">
                <a14:useLocalDpi xmlns:a14="http://schemas.microsoft.com/office/drawing/2010/main" val="0"/>
              </a:ext>
            </a:extLst>
          </a:blip>
          <a:srcRect l="9883" t="2956" r="5103" b="2462"/>
          <a:stretch/>
        </p:blipFill>
        <p:spPr>
          <a:xfrm>
            <a:off x="13520310" y="2230411"/>
            <a:ext cx="2743200" cy="7315200"/>
          </a:xfrm>
          <a:prstGeom prst="rect">
            <a:avLst/>
          </a:prstGeom>
          <a:effectLst>
            <a:softEdge rad="38100"/>
          </a:effectLst>
        </p:spPr>
      </p:pic>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anim calcmode="lin" valueType="num">
                                      <p:cBhvr>
                                        <p:cTn id="8" dur="500" fill="hold"/>
                                        <p:tgtEl>
                                          <p:spTgt spid="9"/>
                                        </p:tgtEl>
                                        <p:attrNameLst>
                                          <p:attrName>ppt_x</p:attrName>
                                        </p:attrNameLst>
                                      </p:cBhvr>
                                      <p:tavLst>
                                        <p:tav tm="0">
                                          <p:val>
                                            <p:strVal val="#ppt_x"/>
                                          </p:val>
                                        </p:tav>
                                        <p:tav tm="100000">
                                          <p:val>
                                            <p:strVal val="#ppt_x"/>
                                          </p:val>
                                        </p:tav>
                                      </p:tavLst>
                                    </p:anim>
                                    <p:anim calcmode="lin" valueType="num">
                                      <p:cBhvr>
                                        <p:cTn id="9"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anim calcmode="lin" valueType="num">
                                      <p:cBhvr>
                                        <p:cTn id="15" dur="500" fill="hold"/>
                                        <p:tgtEl>
                                          <p:spTgt spid="10"/>
                                        </p:tgtEl>
                                        <p:attrNameLst>
                                          <p:attrName>ppt_x</p:attrName>
                                        </p:attrNameLst>
                                      </p:cBhvr>
                                      <p:tavLst>
                                        <p:tav tm="0">
                                          <p:val>
                                            <p:strVal val="#ppt_x"/>
                                          </p:val>
                                        </p:tav>
                                        <p:tav tm="100000">
                                          <p:val>
                                            <p:strVal val="#ppt_x"/>
                                          </p:val>
                                        </p:tav>
                                      </p:tavLst>
                                    </p:anim>
                                    <p:anim calcmode="lin" valueType="num">
                                      <p:cBhvr>
                                        <p:cTn id="16"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anim calcmode="lin" valueType="num">
                                      <p:cBhvr>
                                        <p:cTn id="22" dur="500" fill="hold"/>
                                        <p:tgtEl>
                                          <p:spTgt spid="11"/>
                                        </p:tgtEl>
                                        <p:attrNameLst>
                                          <p:attrName>ppt_x</p:attrName>
                                        </p:attrNameLst>
                                      </p:cBhvr>
                                      <p:tavLst>
                                        <p:tav tm="0">
                                          <p:val>
                                            <p:strVal val="#ppt_x"/>
                                          </p:val>
                                        </p:tav>
                                        <p:tav tm="100000">
                                          <p:val>
                                            <p:strVal val="#ppt_x"/>
                                          </p:val>
                                        </p:tav>
                                      </p:tavLst>
                                    </p:anim>
                                    <p:anim calcmode="lin" valueType="num">
                                      <p:cBhvr>
                                        <p:cTn id="23"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anim calcmode="lin" valueType="num">
                                      <p:cBhvr>
                                        <p:cTn id="29" dur="500" fill="hold"/>
                                        <p:tgtEl>
                                          <p:spTgt spid="12"/>
                                        </p:tgtEl>
                                        <p:attrNameLst>
                                          <p:attrName>ppt_x</p:attrName>
                                        </p:attrNameLst>
                                      </p:cBhvr>
                                      <p:tavLst>
                                        <p:tav tm="0">
                                          <p:val>
                                            <p:strVal val="#ppt_x"/>
                                          </p:val>
                                        </p:tav>
                                        <p:tav tm="100000">
                                          <p:val>
                                            <p:strVal val="#ppt_x"/>
                                          </p:val>
                                        </p:tav>
                                      </p:tavLst>
                                    </p:anim>
                                    <p:anim calcmode="lin" valueType="num">
                                      <p:cBhvr>
                                        <p:cTn id="30"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anim calcmode="lin" valueType="num">
                                      <p:cBhvr>
                                        <p:cTn id="36" dur="500" fill="hold"/>
                                        <p:tgtEl>
                                          <p:spTgt spid="15"/>
                                        </p:tgtEl>
                                        <p:attrNameLst>
                                          <p:attrName>ppt_x</p:attrName>
                                        </p:attrNameLst>
                                      </p:cBhvr>
                                      <p:tavLst>
                                        <p:tav tm="0">
                                          <p:val>
                                            <p:strVal val="#ppt_x"/>
                                          </p:val>
                                        </p:tav>
                                        <p:tav tm="100000">
                                          <p:val>
                                            <p:strVal val="#ppt_x"/>
                                          </p:val>
                                        </p:tav>
                                      </p:tavLst>
                                    </p:anim>
                                    <p:anim calcmode="lin" valueType="num">
                                      <p:cBhvr>
                                        <p:cTn id="37" dur="5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436983" y="1170077"/>
            <a:ext cx="676233" cy="676233"/>
          </a:xfrm>
          <a:custGeom>
            <a:avLst/>
            <a:gdLst/>
            <a:ahLst/>
            <a:cxnLst/>
            <a:rect l="l" t="t" r="r" b="b"/>
            <a:pathLst>
              <a:path w="676233" h="676233">
                <a:moveTo>
                  <a:pt x="0" y="0"/>
                </a:moveTo>
                <a:lnTo>
                  <a:pt x="676233" y="0"/>
                </a:lnTo>
                <a:lnTo>
                  <a:pt x="676233" y="676234"/>
                </a:lnTo>
                <a:lnTo>
                  <a:pt x="0" y="67623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US"/>
          </a:p>
        </p:txBody>
      </p:sp>
      <p:sp>
        <p:nvSpPr>
          <p:cNvPr id="3" name="Freeform 3"/>
          <p:cNvSpPr/>
          <p:nvPr/>
        </p:nvSpPr>
        <p:spPr>
          <a:xfrm rot="-10800000">
            <a:off x="14406846" y="7023843"/>
            <a:ext cx="3881154" cy="3263157"/>
          </a:xfrm>
          <a:custGeom>
            <a:avLst/>
            <a:gdLst/>
            <a:ahLst/>
            <a:cxnLst/>
            <a:rect l="l" t="t" r="r" b="b"/>
            <a:pathLst>
              <a:path w="3881154" h="3263157">
                <a:moveTo>
                  <a:pt x="0" y="0"/>
                </a:moveTo>
                <a:lnTo>
                  <a:pt x="3881154" y="0"/>
                </a:lnTo>
                <a:lnTo>
                  <a:pt x="3881154" y="3263157"/>
                </a:lnTo>
                <a:lnTo>
                  <a:pt x="0" y="3263157"/>
                </a:lnTo>
                <a:lnTo>
                  <a:pt x="0" y="0"/>
                </a:lnTo>
                <a:close/>
              </a:path>
            </a:pathLst>
          </a:custGeom>
          <a:blipFill>
            <a:blip r:embed="rId4"/>
            <a:stretch>
              <a:fillRect/>
            </a:stretch>
          </a:blipFill>
        </p:spPr>
        <p:txBody>
          <a:bodyPr/>
          <a:lstStyle/>
          <a:p>
            <a:endParaRPr lang="en-US"/>
          </a:p>
        </p:txBody>
      </p:sp>
      <p:sp>
        <p:nvSpPr>
          <p:cNvPr id="4" name="Freeform 4"/>
          <p:cNvSpPr/>
          <p:nvPr/>
        </p:nvSpPr>
        <p:spPr>
          <a:xfrm>
            <a:off x="14692023" y="682727"/>
            <a:ext cx="795630" cy="795630"/>
          </a:xfrm>
          <a:custGeom>
            <a:avLst/>
            <a:gdLst/>
            <a:ahLst/>
            <a:cxnLst/>
            <a:rect l="l" t="t" r="r" b="b"/>
            <a:pathLst>
              <a:path w="795630" h="795630">
                <a:moveTo>
                  <a:pt x="0" y="0"/>
                </a:moveTo>
                <a:lnTo>
                  <a:pt x="795630" y="0"/>
                </a:lnTo>
                <a:lnTo>
                  <a:pt x="795630" y="795630"/>
                </a:lnTo>
                <a:lnTo>
                  <a:pt x="0" y="795630"/>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txBody>
          <a:bodyPr/>
          <a:lstStyle/>
          <a:p>
            <a:endParaRPr lang="en-US"/>
          </a:p>
        </p:txBody>
      </p:sp>
      <p:sp>
        <p:nvSpPr>
          <p:cNvPr id="5" name="Freeform 5"/>
          <p:cNvSpPr/>
          <p:nvPr/>
        </p:nvSpPr>
        <p:spPr>
          <a:xfrm>
            <a:off x="1198216" y="8970988"/>
            <a:ext cx="1859075" cy="574623"/>
          </a:xfrm>
          <a:custGeom>
            <a:avLst/>
            <a:gdLst/>
            <a:ahLst/>
            <a:cxnLst/>
            <a:rect l="l" t="t" r="r" b="b"/>
            <a:pathLst>
              <a:path w="1859075" h="574623">
                <a:moveTo>
                  <a:pt x="0" y="0"/>
                </a:moveTo>
                <a:lnTo>
                  <a:pt x="1859075" y="0"/>
                </a:lnTo>
                <a:lnTo>
                  <a:pt x="1859075" y="574624"/>
                </a:lnTo>
                <a:lnTo>
                  <a:pt x="0" y="574624"/>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txBody>
          <a:bodyPr/>
          <a:lstStyle/>
          <a:p>
            <a:endParaRPr lang="en-US"/>
          </a:p>
        </p:txBody>
      </p:sp>
      <p:sp>
        <p:nvSpPr>
          <p:cNvPr id="6" name="Freeform 6"/>
          <p:cNvSpPr/>
          <p:nvPr/>
        </p:nvSpPr>
        <p:spPr>
          <a:xfrm>
            <a:off x="0" y="0"/>
            <a:ext cx="4255508" cy="3577903"/>
          </a:xfrm>
          <a:custGeom>
            <a:avLst/>
            <a:gdLst/>
            <a:ahLst/>
            <a:cxnLst/>
            <a:rect l="l" t="t" r="r" b="b"/>
            <a:pathLst>
              <a:path w="4255508" h="3577903">
                <a:moveTo>
                  <a:pt x="0" y="0"/>
                </a:moveTo>
                <a:lnTo>
                  <a:pt x="4255508" y="0"/>
                </a:lnTo>
                <a:lnTo>
                  <a:pt x="4255508" y="3577903"/>
                </a:lnTo>
                <a:lnTo>
                  <a:pt x="0" y="3577903"/>
                </a:lnTo>
                <a:lnTo>
                  <a:pt x="0" y="0"/>
                </a:lnTo>
                <a:close/>
              </a:path>
            </a:pathLst>
          </a:custGeom>
          <a:blipFill>
            <a:blip r:embed="rId4"/>
            <a:stretch>
              <a:fillRect/>
            </a:stretch>
          </a:blipFill>
        </p:spPr>
        <p:txBody>
          <a:bodyPr/>
          <a:lstStyle/>
          <a:p>
            <a:endParaRPr lang="en-US"/>
          </a:p>
        </p:txBody>
      </p:sp>
      <p:sp>
        <p:nvSpPr>
          <p:cNvPr id="7" name="Freeform 7"/>
          <p:cNvSpPr/>
          <p:nvPr/>
        </p:nvSpPr>
        <p:spPr>
          <a:xfrm>
            <a:off x="9558881" y="8648661"/>
            <a:ext cx="1219277" cy="1219277"/>
          </a:xfrm>
          <a:custGeom>
            <a:avLst/>
            <a:gdLst/>
            <a:ahLst/>
            <a:cxnLst/>
            <a:rect l="l" t="t" r="r" b="b"/>
            <a:pathLst>
              <a:path w="1219277" h="1219277">
                <a:moveTo>
                  <a:pt x="0" y="0"/>
                </a:moveTo>
                <a:lnTo>
                  <a:pt x="1219277" y="0"/>
                </a:lnTo>
                <a:lnTo>
                  <a:pt x="1219277" y="1219278"/>
                </a:lnTo>
                <a:lnTo>
                  <a:pt x="0" y="1219278"/>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txBody>
          <a:bodyPr/>
          <a:lstStyle/>
          <a:p>
            <a:endParaRPr lang="en-US"/>
          </a:p>
        </p:txBody>
      </p:sp>
      <p:sp>
        <p:nvSpPr>
          <p:cNvPr id="8" name="Freeform 8"/>
          <p:cNvSpPr/>
          <p:nvPr/>
        </p:nvSpPr>
        <p:spPr>
          <a:xfrm>
            <a:off x="1988640" y="769948"/>
            <a:ext cx="621188" cy="621188"/>
          </a:xfrm>
          <a:custGeom>
            <a:avLst/>
            <a:gdLst/>
            <a:ahLst/>
            <a:cxnLst/>
            <a:rect l="l" t="t" r="r" b="b"/>
            <a:pathLst>
              <a:path w="621188" h="621188">
                <a:moveTo>
                  <a:pt x="0" y="0"/>
                </a:moveTo>
                <a:lnTo>
                  <a:pt x="621188" y="0"/>
                </a:lnTo>
                <a:lnTo>
                  <a:pt x="621188" y="621188"/>
                </a:lnTo>
                <a:lnTo>
                  <a:pt x="0" y="621188"/>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txBody>
          <a:bodyPr/>
          <a:lstStyle/>
          <a:p>
            <a:endParaRPr lang="en-US"/>
          </a:p>
        </p:txBody>
      </p:sp>
      <p:sp>
        <p:nvSpPr>
          <p:cNvPr id="9" name="Freeform 9"/>
          <p:cNvSpPr/>
          <p:nvPr/>
        </p:nvSpPr>
        <p:spPr>
          <a:xfrm>
            <a:off x="739031" y="2211191"/>
            <a:ext cx="16809939" cy="6072590"/>
          </a:xfrm>
          <a:custGeom>
            <a:avLst/>
            <a:gdLst/>
            <a:ahLst/>
            <a:cxnLst/>
            <a:rect l="l" t="t" r="r" b="b"/>
            <a:pathLst>
              <a:path w="16809939" h="6072590">
                <a:moveTo>
                  <a:pt x="0" y="0"/>
                </a:moveTo>
                <a:lnTo>
                  <a:pt x="16809938" y="0"/>
                </a:lnTo>
                <a:lnTo>
                  <a:pt x="16809938" y="6072590"/>
                </a:lnTo>
                <a:lnTo>
                  <a:pt x="0" y="6072590"/>
                </a:lnTo>
                <a:lnTo>
                  <a:pt x="0" y="0"/>
                </a:lnTo>
                <a:close/>
              </a:path>
            </a:pathLst>
          </a:custGeom>
          <a:blipFill>
            <a:blip r:embed="rId11"/>
            <a:stretch>
              <a:fillRect/>
            </a:stretch>
          </a:blipFill>
        </p:spPr>
        <p:txBody>
          <a:bodyPr/>
          <a:lstStyle/>
          <a:p>
            <a:endParaRPr lang="en-US"/>
          </a:p>
        </p:txBody>
      </p:sp>
      <p:sp>
        <p:nvSpPr>
          <p:cNvPr id="10" name="TextBox 10"/>
          <p:cNvSpPr txBox="1"/>
          <p:nvPr/>
        </p:nvSpPr>
        <p:spPr>
          <a:xfrm>
            <a:off x="5886715" y="341244"/>
            <a:ext cx="7176532" cy="828833"/>
          </a:xfrm>
          <a:prstGeom prst="rect">
            <a:avLst/>
          </a:prstGeom>
        </p:spPr>
        <p:txBody>
          <a:bodyPr lIns="0" tIns="0" rIns="0" bIns="0" rtlCol="0" anchor="t">
            <a:spAutoFit/>
          </a:bodyPr>
          <a:lstStyle/>
          <a:p>
            <a:pPr marL="0" lvl="0" indent="0" algn="l">
              <a:lnSpc>
                <a:spcPts val="5256"/>
              </a:lnSpc>
            </a:pPr>
            <a:r>
              <a:rPr lang="en-US" sz="5256" spc="-289">
                <a:solidFill>
                  <a:srgbClr val="231F20"/>
                </a:solidFill>
                <a:latin typeface="Heading Now 71-78"/>
                <a:ea typeface="Heading Now 71-78"/>
                <a:cs typeface="Heading Now 71-78"/>
                <a:sym typeface="Heading Now 71-78"/>
              </a:rPr>
              <a:t>Design System</a:t>
            </a:r>
          </a:p>
        </p:txBody>
      </p:sp>
    </p:spTree>
  </p:cSld>
  <p:clrMapOvr>
    <a:masterClrMapping/>
  </p:clrMapOvr>
  <p:transition spd="slow">
    <p:cove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xmlns="" id="{0AFC4151-5A44-E70E-3476-A2C00F89402F}"/>
              </a:ext>
            </a:extLst>
          </p:cNvPr>
          <p:cNvPicPr>
            <a:picLocks noChangeAspect="1"/>
          </p:cNvPicPr>
          <p:nvPr/>
        </p:nvPicPr>
        <p:blipFill>
          <a:blip r:embed="rId2"/>
          <a:srcRect t="41111" r="17917" b="20370"/>
          <a:stretch/>
        </p:blipFill>
        <p:spPr>
          <a:xfrm>
            <a:off x="-3629" y="1919784"/>
            <a:ext cx="18042548" cy="4762500"/>
          </a:xfrm>
          <a:prstGeom prst="rect">
            <a:avLst/>
          </a:prstGeom>
        </p:spPr>
      </p:pic>
      <p:sp>
        <p:nvSpPr>
          <p:cNvPr id="3" name="Freeform 3"/>
          <p:cNvSpPr/>
          <p:nvPr/>
        </p:nvSpPr>
        <p:spPr>
          <a:xfrm rot="-10800000">
            <a:off x="11953030" y="4960748"/>
            <a:ext cx="6334970" cy="5326252"/>
          </a:xfrm>
          <a:custGeom>
            <a:avLst/>
            <a:gdLst/>
            <a:ahLst/>
            <a:cxnLst/>
            <a:rect l="l" t="t" r="r" b="b"/>
            <a:pathLst>
              <a:path w="6334970" h="5326252">
                <a:moveTo>
                  <a:pt x="0" y="0"/>
                </a:moveTo>
                <a:lnTo>
                  <a:pt x="6334970" y="0"/>
                </a:lnTo>
                <a:lnTo>
                  <a:pt x="6334970" y="5326252"/>
                </a:lnTo>
                <a:lnTo>
                  <a:pt x="0" y="5326252"/>
                </a:lnTo>
                <a:lnTo>
                  <a:pt x="0" y="0"/>
                </a:lnTo>
                <a:close/>
              </a:path>
            </a:pathLst>
          </a:custGeom>
          <a:blipFill>
            <a:blip r:embed="rId3"/>
            <a:stretch>
              <a:fillRect/>
            </a:stretch>
          </a:blipFill>
        </p:spPr>
        <p:txBody>
          <a:bodyPr/>
          <a:lstStyle/>
          <a:p>
            <a:endParaRPr lang="en-US"/>
          </a:p>
        </p:txBody>
      </p:sp>
      <p:sp>
        <p:nvSpPr>
          <p:cNvPr id="4" name="Freeform 4"/>
          <p:cNvSpPr/>
          <p:nvPr/>
        </p:nvSpPr>
        <p:spPr>
          <a:xfrm>
            <a:off x="14300843" y="363896"/>
            <a:ext cx="1859075" cy="574623"/>
          </a:xfrm>
          <a:custGeom>
            <a:avLst/>
            <a:gdLst/>
            <a:ahLst/>
            <a:cxnLst/>
            <a:rect l="l" t="t" r="r" b="b"/>
            <a:pathLst>
              <a:path w="1859075" h="574623">
                <a:moveTo>
                  <a:pt x="0" y="0"/>
                </a:moveTo>
                <a:lnTo>
                  <a:pt x="1859075" y="0"/>
                </a:lnTo>
                <a:lnTo>
                  <a:pt x="1859075" y="574623"/>
                </a:lnTo>
                <a:lnTo>
                  <a:pt x="0" y="574623"/>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en-US"/>
          </a:p>
        </p:txBody>
      </p:sp>
      <p:sp>
        <p:nvSpPr>
          <p:cNvPr id="6" name="Freeform 6"/>
          <p:cNvSpPr/>
          <p:nvPr/>
        </p:nvSpPr>
        <p:spPr>
          <a:xfrm>
            <a:off x="16818574" y="-896135"/>
            <a:ext cx="2520063" cy="2520063"/>
          </a:xfrm>
          <a:custGeom>
            <a:avLst/>
            <a:gdLst/>
            <a:ahLst/>
            <a:cxnLst/>
            <a:rect l="l" t="t" r="r" b="b"/>
            <a:pathLst>
              <a:path w="2520063" h="2520063">
                <a:moveTo>
                  <a:pt x="0" y="0"/>
                </a:moveTo>
                <a:lnTo>
                  <a:pt x="2520063" y="0"/>
                </a:lnTo>
                <a:lnTo>
                  <a:pt x="2520063" y="2520063"/>
                </a:lnTo>
                <a:lnTo>
                  <a:pt x="0" y="2520063"/>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txBody>
          <a:bodyPr/>
          <a:lstStyle/>
          <a:p>
            <a:endParaRPr lang="en-US"/>
          </a:p>
        </p:txBody>
      </p:sp>
      <p:sp>
        <p:nvSpPr>
          <p:cNvPr id="7" name="Freeform 7"/>
          <p:cNvSpPr/>
          <p:nvPr/>
        </p:nvSpPr>
        <p:spPr>
          <a:xfrm>
            <a:off x="-584716" y="-258715"/>
            <a:ext cx="1197234" cy="1197234"/>
          </a:xfrm>
          <a:custGeom>
            <a:avLst/>
            <a:gdLst/>
            <a:ahLst/>
            <a:cxnLst/>
            <a:rect l="l" t="t" r="r" b="b"/>
            <a:pathLst>
              <a:path w="1197234" h="1197234">
                <a:moveTo>
                  <a:pt x="0" y="0"/>
                </a:moveTo>
                <a:lnTo>
                  <a:pt x="1197234" y="0"/>
                </a:lnTo>
                <a:lnTo>
                  <a:pt x="1197234" y="1197234"/>
                </a:lnTo>
                <a:lnTo>
                  <a:pt x="0" y="1197234"/>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txBody>
          <a:bodyPr/>
          <a:lstStyle/>
          <a:p>
            <a:endParaRPr lang="en-US"/>
          </a:p>
        </p:txBody>
      </p:sp>
      <p:sp>
        <p:nvSpPr>
          <p:cNvPr id="11" name="TextBox 11"/>
          <p:cNvSpPr txBox="1"/>
          <p:nvPr/>
        </p:nvSpPr>
        <p:spPr>
          <a:xfrm>
            <a:off x="612518" y="334867"/>
            <a:ext cx="13255882" cy="872034"/>
          </a:xfrm>
          <a:prstGeom prst="rect">
            <a:avLst/>
          </a:prstGeom>
        </p:spPr>
        <p:txBody>
          <a:bodyPr wrap="square" lIns="0" tIns="0" rIns="0" bIns="0" rtlCol="0" anchor="t">
            <a:spAutoFit/>
          </a:bodyPr>
          <a:lstStyle/>
          <a:p>
            <a:pPr marL="0" lvl="0" indent="0" algn="l">
              <a:lnSpc>
                <a:spcPts val="6795"/>
              </a:lnSpc>
            </a:pPr>
            <a:r>
              <a:rPr lang="en-US" sz="6795" spc="-373" dirty="0">
                <a:solidFill>
                  <a:srgbClr val="231F20"/>
                </a:solidFill>
                <a:latin typeface="Heading Now 71-78"/>
                <a:ea typeface="Heading Now 71-78"/>
                <a:cs typeface="Heading Now 71-78"/>
                <a:sym typeface="Heading Now 71-78"/>
              </a:rPr>
              <a:t>survey Hierarchical workflow</a:t>
            </a:r>
          </a:p>
        </p:txBody>
      </p:sp>
      <p:sp>
        <p:nvSpPr>
          <p:cNvPr id="14" name="TextBox 13">
            <a:extLst>
              <a:ext uri="{FF2B5EF4-FFF2-40B4-BE49-F238E27FC236}">
                <a16:creationId xmlns:a16="http://schemas.microsoft.com/office/drawing/2014/main" xmlns="" id="{F983324B-3DE8-5C13-1473-B935514761D2}"/>
              </a:ext>
            </a:extLst>
          </p:cNvPr>
          <p:cNvSpPr txBox="1"/>
          <p:nvPr/>
        </p:nvSpPr>
        <p:spPr>
          <a:xfrm>
            <a:off x="1371600" y="7623874"/>
            <a:ext cx="12649200" cy="1569660"/>
          </a:xfrm>
          <a:prstGeom prst="rect">
            <a:avLst/>
          </a:prstGeom>
          <a:noFill/>
        </p:spPr>
        <p:txBody>
          <a:bodyPr wrap="square" rtlCol="0">
            <a:spAutoFit/>
          </a:bodyPr>
          <a:lstStyle/>
          <a:p>
            <a:r>
              <a:rPr lang="en-US" sz="3200" dirty="0"/>
              <a:t>A hierarchy questions workflow each branch is specified for a specific role in the system ( student / instructor / admins ) with a common and specific </a:t>
            </a:r>
          </a:p>
          <a:p>
            <a:r>
              <a:rPr lang="en-US" sz="3200" dirty="0"/>
              <a:t>Questions according to visitor’s role </a:t>
            </a:r>
          </a:p>
        </p:txBody>
      </p:sp>
    </p:spTree>
  </p:cSld>
  <p:clrMapOvr>
    <a:masterClrMapping/>
  </p:clrMapOvr>
  <p:transition spd="slow">
    <p:push dir="u"/>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44000" y="5453540"/>
            <a:ext cx="9551776" cy="4367787"/>
          </a:xfrm>
          <a:custGeom>
            <a:avLst/>
            <a:gdLst/>
            <a:ahLst/>
            <a:cxnLst/>
            <a:rect l="l" t="t" r="r" b="b"/>
            <a:pathLst>
              <a:path w="9551776" h="4367787">
                <a:moveTo>
                  <a:pt x="0" y="0"/>
                </a:moveTo>
                <a:lnTo>
                  <a:pt x="9551776" y="0"/>
                </a:lnTo>
                <a:lnTo>
                  <a:pt x="9551776" y="4367787"/>
                </a:lnTo>
                <a:lnTo>
                  <a:pt x="0" y="4367787"/>
                </a:lnTo>
                <a:lnTo>
                  <a:pt x="0" y="0"/>
                </a:lnTo>
                <a:close/>
              </a:path>
            </a:pathLst>
          </a:custGeom>
          <a:blipFill>
            <a:blip r:embed="rId2"/>
            <a:stretch>
              <a:fillRect l="-26505" t="-64365" r="-24588" b="-21496"/>
            </a:stretch>
          </a:blipFill>
        </p:spPr>
        <p:txBody>
          <a:bodyPr/>
          <a:lstStyle/>
          <a:p>
            <a:endParaRPr lang="en-US"/>
          </a:p>
        </p:txBody>
      </p:sp>
      <p:sp>
        <p:nvSpPr>
          <p:cNvPr id="3" name="Freeform 3"/>
          <p:cNvSpPr/>
          <p:nvPr/>
        </p:nvSpPr>
        <p:spPr>
          <a:xfrm rot="-10800000">
            <a:off x="11953030" y="4960748"/>
            <a:ext cx="6334970" cy="5326252"/>
          </a:xfrm>
          <a:custGeom>
            <a:avLst/>
            <a:gdLst/>
            <a:ahLst/>
            <a:cxnLst/>
            <a:rect l="l" t="t" r="r" b="b"/>
            <a:pathLst>
              <a:path w="6334970" h="5326252">
                <a:moveTo>
                  <a:pt x="0" y="0"/>
                </a:moveTo>
                <a:lnTo>
                  <a:pt x="6334970" y="0"/>
                </a:lnTo>
                <a:lnTo>
                  <a:pt x="6334970" y="5326252"/>
                </a:lnTo>
                <a:lnTo>
                  <a:pt x="0" y="5326252"/>
                </a:lnTo>
                <a:lnTo>
                  <a:pt x="0" y="0"/>
                </a:lnTo>
                <a:close/>
              </a:path>
            </a:pathLst>
          </a:custGeom>
          <a:blipFill>
            <a:blip r:embed="rId3"/>
            <a:stretch>
              <a:fillRect/>
            </a:stretch>
          </a:blipFill>
        </p:spPr>
        <p:txBody>
          <a:bodyPr/>
          <a:lstStyle/>
          <a:p>
            <a:endParaRPr lang="en-US"/>
          </a:p>
        </p:txBody>
      </p:sp>
      <p:sp>
        <p:nvSpPr>
          <p:cNvPr id="4" name="Freeform 4"/>
          <p:cNvSpPr/>
          <p:nvPr/>
        </p:nvSpPr>
        <p:spPr>
          <a:xfrm>
            <a:off x="14300843" y="363896"/>
            <a:ext cx="1859075" cy="574623"/>
          </a:xfrm>
          <a:custGeom>
            <a:avLst/>
            <a:gdLst/>
            <a:ahLst/>
            <a:cxnLst/>
            <a:rect l="l" t="t" r="r" b="b"/>
            <a:pathLst>
              <a:path w="1859075" h="574623">
                <a:moveTo>
                  <a:pt x="0" y="0"/>
                </a:moveTo>
                <a:lnTo>
                  <a:pt x="1859075" y="0"/>
                </a:lnTo>
                <a:lnTo>
                  <a:pt x="1859075" y="574623"/>
                </a:lnTo>
                <a:lnTo>
                  <a:pt x="0" y="574623"/>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en-US"/>
          </a:p>
        </p:txBody>
      </p:sp>
      <p:sp>
        <p:nvSpPr>
          <p:cNvPr id="5" name="Freeform 5"/>
          <p:cNvSpPr/>
          <p:nvPr/>
        </p:nvSpPr>
        <p:spPr>
          <a:xfrm>
            <a:off x="11569153" y="1158711"/>
            <a:ext cx="6718847" cy="4075754"/>
          </a:xfrm>
          <a:custGeom>
            <a:avLst/>
            <a:gdLst/>
            <a:ahLst/>
            <a:cxnLst/>
            <a:rect l="l" t="t" r="r" b="b"/>
            <a:pathLst>
              <a:path w="6718847" h="4075754">
                <a:moveTo>
                  <a:pt x="0" y="0"/>
                </a:moveTo>
                <a:lnTo>
                  <a:pt x="6718847" y="0"/>
                </a:lnTo>
                <a:lnTo>
                  <a:pt x="6718847" y="4075754"/>
                </a:lnTo>
                <a:lnTo>
                  <a:pt x="0" y="4075754"/>
                </a:lnTo>
                <a:lnTo>
                  <a:pt x="0" y="0"/>
                </a:lnTo>
                <a:close/>
              </a:path>
            </a:pathLst>
          </a:custGeom>
          <a:blipFill>
            <a:blip r:embed="rId6"/>
            <a:stretch>
              <a:fillRect l="-37106" t="-75718" r="-86091" b="-31248"/>
            </a:stretch>
          </a:blipFill>
        </p:spPr>
        <p:txBody>
          <a:bodyPr/>
          <a:lstStyle/>
          <a:p>
            <a:endParaRPr lang="en-US"/>
          </a:p>
        </p:txBody>
      </p:sp>
      <p:sp>
        <p:nvSpPr>
          <p:cNvPr id="6" name="Freeform 6"/>
          <p:cNvSpPr/>
          <p:nvPr/>
        </p:nvSpPr>
        <p:spPr>
          <a:xfrm>
            <a:off x="16818574" y="-896135"/>
            <a:ext cx="2520063" cy="2520063"/>
          </a:xfrm>
          <a:custGeom>
            <a:avLst/>
            <a:gdLst/>
            <a:ahLst/>
            <a:cxnLst/>
            <a:rect l="l" t="t" r="r" b="b"/>
            <a:pathLst>
              <a:path w="2520063" h="2520063">
                <a:moveTo>
                  <a:pt x="0" y="0"/>
                </a:moveTo>
                <a:lnTo>
                  <a:pt x="2520063" y="0"/>
                </a:lnTo>
                <a:lnTo>
                  <a:pt x="2520063" y="2520063"/>
                </a:lnTo>
                <a:lnTo>
                  <a:pt x="0" y="2520063"/>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txBody>
          <a:bodyPr/>
          <a:lstStyle/>
          <a:p>
            <a:endParaRPr lang="en-US"/>
          </a:p>
        </p:txBody>
      </p:sp>
      <p:sp>
        <p:nvSpPr>
          <p:cNvPr id="7" name="Freeform 7"/>
          <p:cNvSpPr/>
          <p:nvPr/>
        </p:nvSpPr>
        <p:spPr>
          <a:xfrm>
            <a:off x="-584716" y="-258715"/>
            <a:ext cx="1197234" cy="1197234"/>
          </a:xfrm>
          <a:custGeom>
            <a:avLst/>
            <a:gdLst/>
            <a:ahLst/>
            <a:cxnLst/>
            <a:rect l="l" t="t" r="r" b="b"/>
            <a:pathLst>
              <a:path w="1197234" h="1197234">
                <a:moveTo>
                  <a:pt x="0" y="0"/>
                </a:moveTo>
                <a:lnTo>
                  <a:pt x="1197234" y="0"/>
                </a:lnTo>
                <a:lnTo>
                  <a:pt x="1197234" y="1197234"/>
                </a:lnTo>
                <a:lnTo>
                  <a:pt x="0" y="1197234"/>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txBody>
          <a:bodyPr/>
          <a:lstStyle/>
          <a:p>
            <a:endParaRPr lang="en-US"/>
          </a:p>
        </p:txBody>
      </p:sp>
      <p:sp>
        <p:nvSpPr>
          <p:cNvPr id="8" name="Freeform 8"/>
          <p:cNvSpPr/>
          <p:nvPr/>
        </p:nvSpPr>
        <p:spPr>
          <a:xfrm>
            <a:off x="11813141" y="202260"/>
            <a:ext cx="583117" cy="583117"/>
          </a:xfrm>
          <a:custGeom>
            <a:avLst/>
            <a:gdLst/>
            <a:ahLst/>
            <a:cxnLst/>
            <a:rect l="l" t="t" r="r" b="b"/>
            <a:pathLst>
              <a:path w="583117" h="583117">
                <a:moveTo>
                  <a:pt x="0" y="0"/>
                </a:moveTo>
                <a:lnTo>
                  <a:pt x="583117" y="0"/>
                </a:lnTo>
                <a:lnTo>
                  <a:pt x="583117" y="583116"/>
                </a:lnTo>
                <a:lnTo>
                  <a:pt x="0" y="583116"/>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txBody>
          <a:bodyPr/>
          <a:lstStyle/>
          <a:p>
            <a:endParaRPr lang="en-US"/>
          </a:p>
        </p:txBody>
      </p:sp>
      <p:sp>
        <p:nvSpPr>
          <p:cNvPr id="9" name="Freeform 9"/>
          <p:cNvSpPr/>
          <p:nvPr/>
        </p:nvSpPr>
        <p:spPr>
          <a:xfrm>
            <a:off x="-63909" y="1285733"/>
            <a:ext cx="11877050" cy="3752093"/>
          </a:xfrm>
          <a:custGeom>
            <a:avLst/>
            <a:gdLst/>
            <a:ahLst/>
            <a:cxnLst/>
            <a:rect l="l" t="t" r="r" b="b"/>
            <a:pathLst>
              <a:path w="11877050" h="3752093">
                <a:moveTo>
                  <a:pt x="0" y="0"/>
                </a:moveTo>
                <a:lnTo>
                  <a:pt x="11877050" y="0"/>
                </a:lnTo>
                <a:lnTo>
                  <a:pt x="11877050" y="3752094"/>
                </a:lnTo>
                <a:lnTo>
                  <a:pt x="0" y="3752094"/>
                </a:lnTo>
                <a:lnTo>
                  <a:pt x="0" y="0"/>
                </a:lnTo>
                <a:close/>
              </a:path>
            </a:pathLst>
          </a:custGeom>
          <a:blipFill>
            <a:blip r:embed="rId11"/>
            <a:stretch>
              <a:fillRect l="-519" t="-30101" b="-48879"/>
            </a:stretch>
          </a:blipFill>
        </p:spPr>
        <p:txBody>
          <a:bodyPr/>
          <a:lstStyle/>
          <a:p>
            <a:endParaRPr lang="en-US"/>
          </a:p>
        </p:txBody>
      </p:sp>
      <p:sp>
        <p:nvSpPr>
          <p:cNvPr id="10" name="Freeform 10"/>
          <p:cNvSpPr/>
          <p:nvPr/>
        </p:nvSpPr>
        <p:spPr>
          <a:xfrm>
            <a:off x="326275" y="5143500"/>
            <a:ext cx="8817725" cy="4929482"/>
          </a:xfrm>
          <a:custGeom>
            <a:avLst/>
            <a:gdLst/>
            <a:ahLst/>
            <a:cxnLst/>
            <a:rect l="l" t="t" r="r" b="b"/>
            <a:pathLst>
              <a:path w="8817725" h="4929482">
                <a:moveTo>
                  <a:pt x="0" y="0"/>
                </a:moveTo>
                <a:lnTo>
                  <a:pt x="8817725" y="0"/>
                </a:lnTo>
                <a:lnTo>
                  <a:pt x="8817725" y="4929482"/>
                </a:lnTo>
                <a:lnTo>
                  <a:pt x="0" y="4929482"/>
                </a:lnTo>
                <a:lnTo>
                  <a:pt x="0" y="0"/>
                </a:lnTo>
                <a:close/>
              </a:path>
            </a:pathLst>
          </a:custGeom>
          <a:blipFill>
            <a:blip r:embed="rId12"/>
            <a:stretch>
              <a:fillRect l="-3971" t="-14717" r="-16596" b="-6597"/>
            </a:stretch>
          </a:blipFill>
        </p:spPr>
        <p:txBody>
          <a:bodyPr/>
          <a:lstStyle/>
          <a:p>
            <a:endParaRPr lang="en-US"/>
          </a:p>
        </p:txBody>
      </p:sp>
      <p:sp>
        <p:nvSpPr>
          <p:cNvPr id="11" name="TextBox 11"/>
          <p:cNvSpPr txBox="1"/>
          <p:nvPr/>
        </p:nvSpPr>
        <p:spPr>
          <a:xfrm>
            <a:off x="612518" y="334867"/>
            <a:ext cx="10173360" cy="872034"/>
          </a:xfrm>
          <a:prstGeom prst="rect">
            <a:avLst/>
          </a:prstGeom>
        </p:spPr>
        <p:txBody>
          <a:bodyPr lIns="0" tIns="0" rIns="0" bIns="0" rtlCol="0" anchor="t">
            <a:spAutoFit/>
          </a:bodyPr>
          <a:lstStyle/>
          <a:p>
            <a:pPr marL="0" lvl="0" indent="0" algn="l">
              <a:lnSpc>
                <a:spcPts val="6795"/>
              </a:lnSpc>
            </a:pPr>
            <a:r>
              <a:rPr lang="en-US" sz="6795" spc="-373" dirty="0">
                <a:solidFill>
                  <a:srgbClr val="231F20"/>
                </a:solidFill>
                <a:latin typeface="Heading Now 71-78"/>
                <a:ea typeface="Heading Now 71-78"/>
                <a:cs typeface="Heading Now 71-78"/>
                <a:sym typeface="Heading Now 71-78"/>
              </a:rPr>
              <a:t>survey results samples</a:t>
            </a:r>
          </a:p>
        </p:txBody>
      </p:sp>
    </p:spTree>
    <p:extLst>
      <p:ext uri="{BB962C8B-B14F-4D97-AF65-F5344CB8AC3E}">
        <p14:creationId xmlns:p14="http://schemas.microsoft.com/office/powerpoint/2010/main" val="226518679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strVal val="#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1000"/>
                                        <p:tgtEl>
                                          <p:spTgt spid="10"/>
                                        </p:tgtEl>
                                      </p:cBhvr>
                                    </p:animEffect>
                                    <p:anim calcmode="lin" valueType="num">
                                      <p:cBhvr>
                                        <p:cTn id="19" dur="1000" fill="hold"/>
                                        <p:tgtEl>
                                          <p:spTgt spid="10"/>
                                        </p:tgtEl>
                                        <p:attrNameLst>
                                          <p:attrName>ppt_x</p:attrName>
                                        </p:attrNameLst>
                                      </p:cBhvr>
                                      <p:tavLst>
                                        <p:tav tm="0">
                                          <p:val>
                                            <p:strVal val="#ppt_x"/>
                                          </p:val>
                                        </p:tav>
                                        <p:tav tm="100000">
                                          <p:val>
                                            <p:strVal val="#ppt_x"/>
                                          </p:val>
                                        </p:tav>
                                      </p:tavLst>
                                    </p:anim>
                                    <p:anim calcmode="lin" valueType="num">
                                      <p:cBhvr>
                                        <p:cTn id="20"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ppt_x"/>
                                          </p:val>
                                        </p:tav>
                                        <p:tav tm="100000">
                                          <p:val>
                                            <p:strVal val="#ppt_x"/>
                                          </p:val>
                                        </p:tav>
                                      </p:tavLst>
                                    </p:anim>
                                    <p:anim calcmode="lin" valueType="num">
                                      <p:cBhvr additive="base">
                                        <p:cTn id="2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9" grpId="0" animBg="1"/>
      <p:bldP spid="1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057573" y="-282590"/>
            <a:ext cx="7607837" cy="10852181"/>
            <a:chOff x="0" y="0"/>
            <a:chExt cx="1306005" cy="1862948"/>
          </a:xfrm>
        </p:grpSpPr>
        <p:sp>
          <p:nvSpPr>
            <p:cNvPr id="3" name="Freeform 3"/>
            <p:cNvSpPr/>
            <p:nvPr/>
          </p:nvSpPr>
          <p:spPr>
            <a:xfrm>
              <a:off x="0" y="0"/>
              <a:ext cx="1306005" cy="1862948"/>
            </a:xfrm>
            <a:custGeom>
              <a:avLst/>
              <a:gdLst/>
              <a:ahLst/>
              <a:cxnLst/>
              <a:rect l="l" t="t" r="r" b="b"/>
              <a:pathLst>
                <a:path w="1306005" h="1862948">
                  <a:moveTo>
                    <a:pt x="35617" y="0"/>
                  </a:moveTo>
                  <a:lnTo>
                    <a:pt x="1270388" y="0"/>
                  </a:lnTo>
                  <a:cubicBezTo>
                    <a:pt x="1290059" y="0"/>
                    <a:pt x="1306005" y="15946"/>
                    <a:pt x="1306005" y="35617"/>
                  </a:cubicBezTo>
                  <a:lnTo>
                    <a:pt x="1306005" y="1827331"/>
                  </a:lnTo>
                  <a:cubicBezTo>
                    <a:pt x="1306005" y="1836777"/>
                    <a:pt x="1302252" y="1845836"/>
                    <a:pt x="1295573" y="1852516"/>
                  </a:cubicBezTo>
                  <a:cubicBezTo>
                    <a:pt x="1288894" y="1859195"/>
                    <a:pt x="1279834" y="1862948"/>
                    <a:pt x="1270388" y="1862948"/>
                  </a:cubicBezTo>
                  <a:lnTo>
                    <a:pt x="35617" y="1862948"/>
                  </a:lnTo>
                  <a:cubicBezTo>
                    <a:pt x="15946" y="1862948"/>
                    <a:pt x="0" y="1847001"/>
                    <a:pt x="0" y="1827331"/>
                  </a:cubicBezTo>
                  <a:lnTo>
                    <a:pt x="0" y="35617"/>
                  </a:lnTo>
                  <a:cubicBezTo>
                    <a:pt x="0" y="15946"/>
                    <a:pt x="15946" y="0"/>
                    <a:pt x="35617" y="0"/>
                  </a:cubicBezTo>
                  <a:close/>
                </a:path>
              </a:pathLst>
            </a:custGeom>
            <a:blipFill>
              <a:blip r:embed="rId2"/>
              <a:stretch>
                <a:fillRect l="-7681" r="-7681"/>
              </a:stretch>
            </a:blipFill>
          </p:spPr>
          <p:txBody>
            <a:bodyPr/>
            <a:lstStyle/>
            <a:p>
              <a:endParaRPr lang="en-US"/>
            </a:p>
          </p:txBody>
        </p:sp>
      </p:grpSp>
      <p:sp>
        <p:nvSpPr>
          <p:cNvPr id="4" name="Freeform 4"/>
          <p:cNvSpPr/>
          <p:nvPr/>
        </p:nvSpPr>
        <p:spPr>
          <a:xfrm>
            <a:off x="6939264" y="741388"/>
            <a:ext cx="1859075" cy="574623"/>
          </a:xfrm>
          <a:custGeom>
            <a:avLst/>
            <a:gdLst/>
            <a:ahLst/>
            <a:cxnLst/>
            <a:rect l="l" t="t" r="r" b="b"/>
            <a:pathLst>
              <a:path w="1859075" h="574623">
                <a:moveTo>
                  <a:pt x="0" y="0"/>
                </a:moveTo>
                <a:lnTo>
                  <a:pt x="1859075" y="0"/>
                </a:lnTo>
                <a:lnTo>
                  <a:pt x="1859075" y="574624"/>
                </a:lnTo>
                <a:lnTo>
                  <a:pt x="0" y="574624"/>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txBody>
          <a:bodyPr/>
          <a:lstStyle/>
          <a:p>
            <a:endParaRPr lang="en-US"/>
          </a:p>
        </p:txBody>
      </p:sp>
      <p:sp>
        <p:nvSpPr>
          <p:cNvPr id="5" name="Freeform 5"/>
          <p:cNvSpPr/>
          <p:nvPr/>
        </p:nvSpPr>
        <p:spPr>
          <a:xfrm>
            <a:off x="499770" y="1909470"/>
            <a:ext cx="795630" cy="795630"/>
          </a:xfrm>
          <a:custGeom>
            <a:avLst/>
            <a:gdLst/>
            <a:ahLst/>
            <a:cxnLst/>
            <a:rect l="l" t="t" r="r" b="b"/>
            <a:pathLst>
              <a:path w="795630" h="795630">
                <a:moveTo>
                  <a:pt x="0" y="0"/>
                </a:moveTo>
                <a:lnTo>
                  <a:pt x="795630" y="0"/>
                </a:lnTo>
                <a:lnTo>
                  <a:pt x="795630" y="795631"/>
                </a:lnTo>
                <a:lnTo>
                  <a:pt x="0" y="795631"/>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txBody>
          <a:bodyPr/>
          <a:lstStyle/>
          <a:p>
            <a:endParaRPr lang="en-US"/>
          </a:p>
        </p:txBody>
      </p:sp>
      <p:sp>
        <p:nvSpPr>
          <p:cNvPr id="6" name="Freeform 6"/>
          <p:cNvSpPr/>
          <p:nvPr/>
        </p:nvSpPr>
        <p:spPr>
          <a:xfrm>
            <a:off x="1969939" y="472097"/>
            <a:ext cx="907361" cy="907361"/>
          </a:xfrm>
          <a:custGeom>
            <a:avLst/>
            <a:gdLst/>
            <a:ahLst/>
            <a:cxnLst/>
            <a:rect l="l" t="t" r="r" b="b"/>
            <a:pathLst>
              <a:path w="907361" h="907361">
                <a:moveTo>
                  <a:pt x="0" y="0"/>
                </a:moveTo>
                <a:lnTo>
                  <a:pt x="907361" y="0"/>
                </a:lnTo>
                <a:lnTo>
                  <a:pt x="907361" y="907360"/>
                </a:lnTo>
                <a:lnTo>
                  <a:pt x="0" y="907360"/>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txBody>
          <a:bodyPr/>
          <a:lstStyle/>
          <a:p>
            <a:endParaRPr lang="en-US"/>
          </a:p>
        </p:txBody>
      </p:sp>
      <p:sp>
        <p:nvSpPr>
          <p:cNvPr id="7" name="TextBox 7"/>
          <p:cNvSpPr txBox="1"/>
          <p:nvPr/>
        </p:nvSpPr>
        <p:spPr>
          <a:xfrm>
            <a:off x="1875111" y="1973387"/>
            <a:ext cx="8411889" cy="807913"/>
          </a:xfrm>
          <a:prstGeom prst="rect">
            <a:avLst/>
          </a:prstGeom>
        </p:spPr>
        <p:txBody>
          <a:bodyPr wrap="square" lIns="0" tIns="0" rIns="0" bIns="0" rtlCol="0" anchor="t">
            <a:spAutoFit/>
          </a:bodyPr>
          <a:lstStyle/>
          <a:p>
            <a:pPr marL="0" lvl="0" indent="0" algn="l">
              <a:lnSpc>
                <a:spcPts val="6295"/>
              </a:lnSpc>
            </a:pPr>
            <a:r>
              <a:rPr lang="en-US" sz="6295" spc="-346" dirty="0">
                <a:solidFill>
                  <a:srgbClr val="231F20"/>
                </a:solidFill>
                <a:latin typeface="Heading Now 71-78"/>
                <a:ea typeface="Heading Now 71-78"/>
                <a:cs typeface="Heading Now 71-78"/>
                <a:sym typeface="Heading Now 71-78"/>
              </a:rPr>
              <a:t>Features Overview</a:t>
            </a:r>
          </a:p>
        </p:txBody>
      </p:sp>
      <p:sp>
        <p:nvSpPr>
          <p:cNvPr id="8" name="TextBox 8"/>
          <p:cNvSpPr txBox="1"/>
          <p:nvPr/>
        </p:nvSpPr>
        <p:spPr>
          <a:xfrm>
            <a:off x="9139238" y="4699952"/>
            <a:ext cx="9525" cy="349250"/>
          </a:xfrm>
          <a:prstGeom prst="rect">
            <a:avLst/>
          </a:prstGeom>
        </p:spPr>
        <p:txBody>
          <a:bodyPr lIns="0" tIns="0" rIns="0" bIns="0" rtlCol="0" anchor="t">
            <a:spAutoFit/>
          </a:bodyPr>
          <a:lstStyle/>
          <a:p>
            <a:pPr algn="ctr">
              <a:lnSpc>
                <a:spcPts val="2800"/>
              </a:lnSpc>
            </a:pPr>
            <a:endParaRPr/>
          </a:p>
        </p:txBody>
      </p:sp>
      <p:pic>
        <p:nvPicPr>
          <p:cNvPr id="11" name="Picture 10">
            <a:extLst>
              <a:ext uri="{FF2B5EF4-FFF2-40B4-BE49-F238E27FC236}">
                <a16:creationId xmlns:a16="http://schemas.microsoft.com/office/drawing/2014/main" xmlns="" id="{C8F19A88-C265-6741-764C-6108E9CCA47A}"/>
              </a:ext>
            </a:extLst>
          </p:cNvPr>
          <p:cNvPicPr>
            <a:picLocks noChangeAspect="1"/>
          </p:cNvPicPr>
          <p:nvPr/>
        </p:nvPicPr>
        <p:blipFill>
          <a:blip r:embed="rId9"/>
          <a:srcRect l="21666" t="32811" r="9584" b="24815"/>
          <a:stretch/>
        </p:blipFill>
        <p:spPr>
          <a:xfrm>
            <a:off x="0" y="3145973"/>
            <a:ext cx="11057573" cy="3833671"/>
          </a:xfrm>
          <a:prstGeom prst="rect">
            <a:avLst/>
          </a:prstGeom>
          <a:effectLst>
            <a:softEdge rad="25400"/>
          </a:effectLst>
        </p:spPr>
      </p:pic>
      <p:pic>
        <p:nvPicPr>
          <p:cNvPr id="13" name="Picture 12">
            <a:extLst>
              <a:ext uri="{FF2B5EF4-FFF2-40B4-BE49-F238E27FC236}">
                <a16:creationId xmlns:a16="http://schemas.microsoft.com/office/drawing/2014/main" xmlns="" id="{FA63914C-6432-6943-27DD-BE4ADEBEA94D}"/>
              </a:ext>
            </a:extLst>
          </p:cNvPr>
          <p:cNvPicPr>
            <a:picLocks noChangeAspect="1"/>
          </p:cNvPicPr>
          <p:nvPr/>
        </p:nvPicPr>
        <p:blipFill>
          <a:blip r:embed="rId10"/>
          <a:srcRect l="21666" t="32810" r="9584" b="27037"/>
          <a:stretch/>
        </p:blipFill>
        <p:spPr>
          <a:xfrm>
            <a:off x="31379" y="6629400"/>
            <a:ext cx="11017621" cy="3619500"/>
          </a:xfrm>
          <a:prstGeom prst="rect">
            <a:avLst/>
          </a:prstGeom>
          <a:effectLst>
            <a:softEdge rad="25400"/>
          </a:effectLst>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800000">
            <a:off x="14406846" y="7023843"/>
            <a:ext cx="3881154" cy="3263157"/>
          </a:xfrm>
          <a:custGeom>
            <a:avLst/>
            <a:gdLst/>
            <a:ahLst/>
            <a:cxnLst/>
            <a:rect l="l" t="t" r="r" b="b"/>
            <a:pathLst>
              <a:path w="3881154" h="3263157">
                <a:moveTo>
                  <a:pt x="0" y="0"/>
                </a:moveTo>
                <a:lnTo>
                  <a:pt x="3881154" y="0"/>
                </a:lnTo>
                <a:lnTo>
                  <a:pt x="3881154" y="3263157"/>
                </a:lnTo>
                <a:lnTo>
                  <a:pt x="0" y="3263157"/>
                </a:lnTo>
                <a:lnTo>
                  <a:pt x="0" y="0"/>
                </a:lnTo>
                <a:close/>
              </a:path>
            </a:pathLst>
          </a:custGeom>
          <a:blipFill>
            <a:blip r:embed="rId4"/>
            <a:stretch>
              <a:fillRect/>
            </a:stretch>
          </a:blipFill>
        </p:spPr>
        <p:txBody>
          <a:bodyPr/>
          <a:lstStyle/>
          <a:p>
            <a:endParaRPr lang="en-US"/>
          </a:p>
        </p:txBody>
      </p:sp>
      <p:sp>
        <p:nvSpPr>
          <p:cNvPr id="3" name="Freeform 3"/>
          <p:cNvSpPr/>
          <p:nvPr/>
        </p:nvSpPr>
        <p:spPr>
          <a:xfrm>
            <a:off x="16347423" y="630885"/>
            <a:ext cx="539193" cy="539193"/>
          </a:xfrm>
          <a:custGeom>
            <a:avLst/>
            <a:gdLst/>
            <a:ahLst/>
            <a:cxnLst/>
            <a:rect l="l" t="t" r="r" b="b"/>
            <a:pathLst>
              <a:path w="539193" h="539193">
                <a:moveTo>
                  <a:pt x="0" y="0"/>
                </a:moveTo>
                <a:lnTo>
                  <a:pt x="539193" y="0"/>
                </a:lnTo>
                <a:lnTo>
                  <a:pt x="539193" y="539192"/>
                </a:lnTo>
                <a:lnTo>
                  <a:pt x="0" y="539192"/>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txBody>
          <a:bodyPr/>
          <a:lstStyle/>
          <a:p>
            <a:endParaRPr lang="en-US"/>
          </a:p>
        </p:txBody>
      </p:sp>
      <p:sp>
        <p:nvSpPr>
          <p:cNvPr id="4" name="Freeform 4"/>
          <p:cNvSpPr/>
          <p:nvPr/>
        </p:nvSpPr>
        <p:spPr>
          <a:xfrm>
            <a:off x="0" y="0"/>
            <a:ext cx="4255508" cy="3577903"/>
          </a:xfrm>
          <a:custGeom>
            <a:avLst/>
            <a:gdLst/>
            <a:ahLst/>
            <a:cxnLst/>
            <a:rect l="l" t="t" r="r" b="b"/>
            <a:pathLst>
              <a:path w="4255508" h="3577903">
                <a:moveTo>
                  <a:pt x="0" y="0"/>
                </a:moveTo>
                <a:lnTo>
                  <a:pt x="4255508" y="0"/>
                </a:lnTo>
                <a:lnTo>
                  <a:pt x="4255508" y="3577903"/>
                </a:lnTo>
                <a:lnTo>
                  <a:pt x="0" y="3577903"/>
                </a:lnTo>
                <a:lnTo>
                  <a:pt x="0" y="0"/>
                </a:lnTo>
                <a:close/>
              </a:path>
            </a:pathLst>
          </a:custGeom>
          <a:blipFill>
            <a:blip r:embed="rId4"/>
            <a:stretch>
              <a:fillRect/>
            </a:stretch>
          </a:blipFill>
        </p:spPr>
        <p:txBody>
          <a:bodyPr/>
          <a:lstStyle/>
          <a:p>
            <a:endParaRPr lang="en-US"/>
          </a:p>
        </p:txBody>
      </p:sp>
      <p:sp>
        <p:nvSpPr>
          <p:cNvPr id="5" name="Freeform 5"/>
          <p:cNvSpPr/>
          <p:nvPr/>
        </p:nvSpPr>
        <p:spPr>
          <a:xfrm>
            <a:off x="1988640" y="769948"/>
            <a:ext cx="621188" cy="621188"/>
          </a:xfrm>
          <a:custGeom>
            <a:avLst/>
            <a:gdLst/>
            <a:ahLst/>
            <a:cxnLst/>
            <a:rect l="l" t="t" r="r" b="b"/>
            <a:pathLst>
              <a:path w="621188" h="621188">
                <a:moveTo>
                  <a:pt x="0" y="0"/>
                </a:moveTo>
                <a:lnTo>
                  <a:pt x="621188" y="0"/>
                </a:lnTo>
                <a:lnTo>
                  <a:pt x="621188" y="621188"/>
                </a:lnTo>
                <a:lnTo>
                  <a:pt x="0" y="621188"/>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txBody>
          <a:bodyPr/>
          <a:lstStyle/>
          <a:p>
            <a:endParaRPr lang="en-US"/>
          </a:p>
        </p:txBody>
      </p:sp>
      <p:pic>
        <p:nvPicPr>
          <p:cNvPr id="6" name="Picture 6">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7"/>
          <a:srcRect t="2914" b="2914"/>
          <a:stretch>
            <a:fillRect/>
          </a:stretch>
        </p:blipFill>
        <p:spPr>
          <a:xfrm>
            <a:off x="3354742" y="1357516"/>
            <a:ext cx="12490027" cy="8429396"/>
          </a:xfrm>
          <a:prstGeom prst="rect">
            <a:avLst/>
          </a:prstGeom>
        </p:spPr>
      </p:pic>
      <p:sp>
        <p:nvSpPr>
          <p:cNvPr id="7" name="TextBox 7"/>
          <p:cNvSpPr txBox="1"/>
          <p:nvPr/>
        </p:nvSpPr>
        <p:spPr>
          <a:xfrm>
            <a:off x="6943604" y="373629"/>
            <a:ext cx="7176532" cy="773588"/>
          </a:xfrm>
          <a:prstGeom prst="rect">
            <a:avLst/>
          </a:prstGeom>
        </p:spPr>
        <p:txBody>
          <a:bodyPr lIns="0" tIns="0" rIns="0" bIns="0" rtlCol="0" anchor="t">
            <a:spAutoFit/>
          </a:bodyPr>
          <a:lstStyle/>
          <a:p>
            <a:pPr marL="0" lvl="0" indent="0" algn="l">
              <a:lnSpc>
                <a:spcPts val="4956"/>
              </a:lnSpc>
            </a:pPr>
            <a:r>
              <a:rPr lang="en-US" sz="4956" spc="-272">
                <a:solidFill>
                  <a:srgbClr val="231F20"/>
                </a:solidFill>
                <a:latin typeface="Heading Now 71-78"/>
                <a:ea typeface="Heading Now 71-78"/>
                <a:cs typeface="Heading Now 71-78"/>
                <a:sym typeface="Heading Now 71-78"/>
              </a:rPr>
              <a:t>WebSite Demo</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100000">
                <p:cTn id="8" fill="hold" display="0">
                  <p:stCondLst>
                    <p:cond delay="indefinite"/>
                  </p:stCondLst>
                </p:cTn>
                <p:tgtEl>
                  <p:spTgt spid="6"/>
                </p:tgtEl>
              </p:cMediaNode>
            </p:vide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800000">
            <a:off x="14406846" y="7023843"/>
            <a:ext cx="3881154" cy="3263157"/>
          </a:xfrm>
          <a:custGeom>
            <a:avLst/>
            <a:gdLst/>
            <a:ahLst/>
            <a:cxnLst/>
            <a:rect l="l" t="t" r="r" b="b"/>
            <a:pathLst>
              <a:path w="3881154" h="3263157">
                <a:moveTo>
                  <a:pt x="0" y="0"/>
                </a:moveTo>
                <a:lnTo>
                  <a:pt x="3881154" y="0"/>
                </a:lnTo>
                <a:lnTo>
                  <a:pt x="3881154" y="3263157"/>
                </a:lnTo>
                <a:lnTo>
                  <a:pt x="0" y="3263157"/>
                </a:lnTo>
                <a:lnTo>
                  <a:pt x="0" y="0"/>
                </a:lnTo>
                <a:close/>
              </a:path>
            </a:pathLst>
          </a:custGeom>
          <a:blipFill>
            <a:blip r:embed="rId4"/>
            <a:stretch>
              <a:fillRect/>
            </a:stretch>
          </a:blipFill>
        </p:spPr>
        <p:txBody>
          <a:bodyPr/>
          <a:lstStyle/>
          <a:p>
            <a:endParaRPr lang="en-US"/>
          </a:p>
        </p:txBody>
      </p:sp>
      <p:sp>
        <p:nvSpPr>
          <p:cNvPr id="3" name="Freeform 3"/>
          <p:cNvSpPr/>
          <p:nvPr/>
        </p:nvSpPr>
        <p:spPr>
          <a:xfrm>
            <a:off x="16347423" y="630885"/>
            <a:ext cx="539193" cy="539193"/>
          </a:xfrm>
          <a:custGeom>
            <a:avLst/>
            <a:gdLst/>
            <a:ahLst/>
            <a:cxnLst/>
            <a:rect l="l" t="t" r="r" b="b"/>
            <a:pathLst>
              <a:path w="539193" h="539193">
                <a:moveTo>
                  <a:pt x="0" y="0"/>
                </a:moveTo>
                <a:lnTo>
                  <a:pt x="539193" y="0"/>
                </a:lnTo>
                <a:lnTo>
                  <a:pt x="539193" y="539192"/>
                </a:lnTo>
                <a:lnTo>
                  <a:pt x="0" y="539192"/>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txBody>
          <a:bodyPr/>
          <a:lstStyle/>
          <a:p>
            <a:endParaRPr lang="en-US"/>
          </a:p>
        </p:txBody>
      </p:sp>
      <p:sp>
        <p:nvSpPr>
          <p:cNvPr id="4" name="Freeform 4"/>
          <p:cNvSpPr/>
          <p:nvPr/>
        </p:nvSpPr>
        <p:spPr>
          <a:xfrm>
            <a:off x="0" y="0"/>
            <a:ext cx="4255508" cy="3577903"/>
          </a:xfrm>
          <a:custGeom>
            <a:avLst/>
            <a:gdLst/>
            <a:ahLst/>
            <a:cxnLst/>
            <a:rect l="l" t="t" r="r" b="b"/>
            <a:pathLst>
              <a:path w="4255508" h="3577903">
                <a:moveTo>
                  <a:pt x="0" y="0"/>
                </a:moveTo>
                <a:lnTo>
                  <a:pt x="4255508" y="0"/>
                </a:lnTo>
                <a:lnTo>
                  <a:pt x="4255508" y="3577903"/>
                </a:lnTo>
                <a:lnTo>
                  <a:pt x="0" y="3577903"/>
                </a:lnTo>
                <a:lnTo>
                  <a:pt x="0" y="0"/>
                </a:lnTo>
                <a:close/>
              </a:path>
            </a:pathLst>
          </a:custGeom>
          <a:blipFill>
            <a:blip r:embed="rId4"/>
            <a:stretch>
              <a:fillRect/>
            </a:stretch>
          </a:blipFill>
        </p:spPr>
        <p:txBody>
          <a:bodyPr/>
          <a:lstStyle/>
          <a:p>
            <a:endParaRPr lang="en-US"/>
          </a:p>
        </p:txBody>
      </p:sp>
      <p:sp>
        <p:nvSpPr>
          <p:cNvPr id="5" name="Freeform 5"/>
          <p:cNvSpPr/>
          <p:nvPr/>
        </p:nvSpPr>
        <p:spPr>
          <a:xfrm>
            <a:off x="1988640" y="769948"/>
            <a:ext cx="621188" cy="621188"/>
          </a:xfrm>
          <a:custGeom>
            <a:avLst/>
            <a:gdLst/>
            <a:ahLst/>
            <a:cxnLst/>
            <a:rect l="l" t="t" r="r" b="b"/>
            <a:pathLst>
              <a:path w="621188" h="621188">
                <a:moveTo>
                  <a:pt x="0" y="0"/>
                </a:moveTo>
                <a:lnTo>
                  <a:pt x="621188" y="0"/>
                </a:lnTo>
                <a:lnTo>
                  <a:pt x="621188" y="621188"/>
                </a:lnTo>
                <a:lnTo>
                  <a:pt x="0" y="621188"/>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txBody>
          <a:bodyPr/>
          <a:lstStyle/>
          <a:p>
            <a:endParaRPr lang="en-US"/>
          </a:p>
        </p:txBody>
      </p:sp>
      <p:pic>
        <p:nvPicPr>
          <p:cNvPr id="6" name="Picture 6">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7"/>
          <a:srcRect/>
          <a:stretch>
            <a:fillRect/>
          </a:stretch>
        </p:blipFill>
        <p:spPr>
          <a:xfrm>
            <a:off x="6134809" y="1592374"/>
            <a:ext cx="7285220" cy="8229600"/>
          </a:xfrm>
          <a:prstGeom prst="rect">
            <a:avLst/>
          </a:prstGeom>
        </p:spPr>
      </p:pic>
      <p:sp>
        <p:nvSpPr>
          <p:cNvPr id="7" name="TextBox 7"/>
          <p:cNvSpPr txBox="1"/>
          <p:nvPr/>
        </p:nvSpPr>
        <p:spPr>
          <a:xfrm>
            <a:off x="6943604" y="373629"/>
            <a:ext cx="7176532" cy="773588"/>
          </a:xfrm>
          <a:prstGeom prst="rect">
            <a:avLst/>
          </a:prstGeom>
        </p:spPr>
        <p:txBody>
          <a:bodyPr lIns="0" tIns="0" rIns="0" bIns="0" rtlCol="0" anchor="t">
            <a:spAutoFit/>
          </a:bodyPr>
          <a:lstStyle/>
          <a:p>
            <a:pPr marL="0" lvl="0" indent="0" algn="l">
              <a:lnSpc>
                <a:spcPts val="4956"/>
              </a:lnSpc>
            </a:pPr>
            <a:r>
              <a:rPr lang="en-US" sz="4956" spc="-272">
                <a:solidFill>
                  <a:srgbClr val="231F20"/>
                </a:solidFill>
                <a:latin typeface="Heading Now 71-78"/>
                <a:ea typeface="Heading Now 71-78"/>
                <a:cs typeface="Heading Now 71-78"/>
                <a:sym typeface="Heading Now 71-78"/>
              </a:rPr>
              <a:t>Mobile App Demo</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100000">
                <p:cTn id="10" fill="hold" display="0">
                  <p:stCondLst>
                    <p:cond delay="indefinite"/>
                  </p:stCondLst>
                </p:cTn>
                <p:tgtEl>
                  <p:spTgt spid="6"/>
                </p:tgtEl>
              </p:cMediaNode>
            </p:vide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1028700"/>
            <a:ext cx="16230600" cy="6763284"/>
            <a:chOff x="0" y="0"/>
            <a:chExt cx="2514545" cy="1047810"/>
          </a:xfrm>
        </p:grpSpPr>
        <p:sp>
          <p:nvSpPr>
            <p:cNvPr id="3" name="Freeform 3"/>
            <p:cNvSpPr/>
            <p:nvPr/>
          </p:nvSpPr>
          <p:spPr>
            <a:xfrm>
              <a:off x="0" y="0"/>
              <a:ext cx="2514545" cy="1047810"/>
            </a:xfrm>
            <a:custGeom>
              <a:avLst/>
              <a:gdLst/>
              <a:ahLst/>
              <a:cxnLst/>
              <a:rect l="l" t="t" r="r" b="b"/>
              <a:pathLst>
                <a:path w="2514545" h="1047810">
                  <a:moveTo>
                    <a:pt x="19080" y="0"/>
                  </a:moveTo>
                  <a:lnTo>
                    <a:pt x="2495465" y="0"/>
                  </a:lnTo>
                  <a:cubicBezTo>
                    <a:pt x="2500525" y="0"/>
                    <a:pt x="2505378" y="2010"/>
                    <a:pt x="2508956" y="5588"/>
                  </a:cubicBezTo>
                  <a:cubicBezTo>
                    <a:pt x="2512534" y="9167"/>
                    <a:pt x="2514545" y="14020"/>
                    <a:pt x="2514545" y="19080"/>
                  </a:cubicBezTo>
                  <a:lnTo>
                    <a:pt x="2514545" y="1028730"/>
                  </a:lnTo>
                  <a:cubicBezTo>
                    <a:pt x="2514545" y="1039267"/>
                    <a:pt x="2506002" y="1047810"/>
                    <a:pt x="2495465" y="1047810"/>
                  </a:cubicBezTo>
                  <a:lnTo>
                    <a:pt x="19080" y="1047810"/>
                  </a:lnTo>
                  <a:cubicBezTo>
                    <a:pt x="8542" y="1047810"/>
                    <a:pt x="0" y="1039267"/>
                    <a:pt x="0" y="1028730"/>
                  </a:cubicBezTo>
                  <a:lnTo>
                    <a:pt x="0" y="19080"/>
                  </a:lnTo>
                  <a:cubicBezTo>
                    <a:pt x="0" y="8542"/>
                    <a:pt x="8542" y="0"/>
                    <a:pt x="19080" y="0"/>
                  </a:cubicBezTo>
                  <a:close/>
                </a:path>
              </a:pathLst>
            </a:custGeom>
            <a:blipFill>
              <a:blip r:embed="rId2"/>
              <a:stretch>
                <a:fillRect t="-18394" b="-18394"/>
              </a:stretch>
            </a:blipFill>
          </p:spPr>
          <p:txBody>
            <a:bodyPr/>
            <a:lstStyle/>
            <a:p>
              <a:endParaRPr lang="en-US"/>
            </a:p>
          </p:txBody>
        </p:sp>
      </p:grpSp>
      <p:grpSp>
        <p:nvGrpSpPr>
          <p:cNvPr id="4" name="Group 4"/>
          <p:cNvGrpSpPr/>
          <p:nvPr/>
        </p:nvGrpSpPr>
        <p:grpSpPr>
          <a:xfrm>
            <a:off x="2288295" y="5364027"/>
            <a:ext cx="13711411" cy="3894273"/>
            <a:chOff x="0" y="0"/>
            <a:chExt cx="3611236" cy="1025652"/>
          </a:xfrm>
        </p:grpSpPr>
        <p:sp>
          <p:nvSpPr>
            <p:cNvPr id="5" name="Freeform 5"/>
            <p:cNvSpPr/>
            <p:nvPr/>
          </p:nvSpPr>
          <p:spPr>
            <a:xfrm>
              <a:off x="0" y="0"/>
              <a:ext cx="3611236" cy="1025652"/>
            </a:xfrm>
            <a:custGeom>
              <a:avLst/>
              <a:gdLst/>
              <a:ahLst/>
              <a:cxnLst/>
              <a:rect l="l" t="t" r="r" b="b"/>
              <a:pathLst>
                <a:path w="3611236" h="1025652">
                  <a:moveTo>
                    <a:pt x="28796" y="0"/>
                  </a:moveTo>
                  <a:lnTo>
                    <a:pt x="3582439" y="0"/>
                  </a:lnTo>
                  <a:cubicBezTo>
                    <a:pt x="3590077" y="0"/>
                    <a:pt x="3597401" y="3034"/>
                    <a:pt x="3602801" y="8434"/>
                  </a:cubicBezTo>
                  <a:cubicBezTo>
                    <a:pt x="3608202" y="13835"/>
                    <a:pt x="3611236" y="21159"/>
                    <a:pt x="3611236" y="28796"/>
                  </a:cubicBezTo>
                  <a:lnTo>
                    <a:pt x="3611236" y="996856"/>
                  </a:lnTo>
                  <a:cubicBezTo>
                    <a:pt x="3611236" y="1004493"/>
                    <a:pt x="3608202" y="1011818"/>
                    <a:pt x="3602801" y="1017218"/>
                  </a:cubicBezTo>
                  <a:cubicBezTo>
                    <a:pt x="3597401" y="1022618"/>
                    <a:pt x="3590077" y="1025652"/>
                    <a:pt x="3582439" y="1025652"/>
                  </a:cubicBezTo>
                  <a:lnTo>
                    <a:pt x="28796" y="1025652"/>
                  </a:lnTo>
                  <a:cubicBezTo>
                    <a:pt x="21159" y="1025652"/>
                    <a:pt x="13835" y="1022618"/>
                    <a:pt x="8434" y="1017218"/>
                  </a:cubicBezTo>
                  <a:cubicBezTo>
                    <a:pt x="3034" y="1011818"/>
                    <a:pt x="0" y="1004493"/>
                    <a:pt x="0" y="996856"/>
                  </a:cubicBezTo>
                  <a:lnTo>
                    <a:pt x="0" y="28796"/>
                  </a:lnTo>
                  <a:cubicBezTo>
                    <a:pt x="0" y="21159"/>
                    <a:pt x="3034" y="13835"/>
                    <a:pt x="8434" y="8434"/>
                  </a:cubicBezTo>
                  <a:cubicBezTo>
                    <a:pt x="13835" y="3034"/>
                    <a:pt x="21159" y="0"/>
                    <a:pt x="28796" y="0"/>
                  </a:cubicBezTo>
                  <a:close/>
                </a:path>
              </a:pathLst>
            </a:custGeom>
            <a:solidFill>
              <a:srgbClr val="F3F3F3"/>
            </a:solidFill>
          </p:spPr>
          <p:txBody>
            <a:bodyPr/>
            <a:lstStyle/>
            <a:p>
              <a:endParaRPr lang="en-US"/>
            </a:p>
          </p:txBody>
        </p:sp>
        <p:sp>
          <p:nvSpPr>
            <p:cNvPr id="6" name="TextBox 6"/>
            <p:cNvSpPr txBox="1"/>
            <p:nvPr/>
          </p:nvSpPr>
          <p:spPr>
            <a:xfrm>
              <a:off x="0" y="-47625"/>
              <a:ext cx="3611236" cy="1073277"/>
            </a:xfrm>
            <a:prstGeom prst="rect">
              <a:avLst/>
            </a:prstGeom>
          </p:spPr>
          <p:txBody>
            <a:bodyPr lIns="50800" tIns="50800" rIns="50800" bIns="50800" rtlCol="0" anchor="ctr"/>
            <a:lstStyle/>
            <a:p>
              <a:pPr marL="0" lvl="0" indent="0" algn="ctr">
                <a:lnSpc>
                  <a:spcPts val="3360"/>
                </a:lnSpc>
              </a:pPr>
              <a:endParaRPr/>
            </a:p>
          </p:txBody>
        </p:sp>
      </p:grpSp>
      <p:sp>
        <p:nvSpPr>
          <p:cNvPr id="7" name="TextBox 7"/>
          <p:cNvSpPr txBox="1"/>
          <p:nvPr/>
        </p:nvSpPr>
        <p:spPr>
          <a:xfrm>
            <a:off x="2514600" y="5948230"/>
            <a:ext cx="4419600" cy="2115964"/>
          </a:xfrm>
          <a:prstGeom prst="rect">
            <a:avLst/>
          </a:prstGeom>
        </p:spPr>
        <p:txBody>
          <a:bodyPr wrap="square" lIns="0" tIns="0" rIns="0" bIns="0" rtlCol="0" anchor="t">
            <a:spAutoFit/>
          </a:bodyPr>
          <a:lstStyle/>
          <a:p>
            <a:pPr marL="0" lvl="0" indent="0" algn="l">
              <a:lnSpc>
                <a:spcPts val="5469"/>
              </a:lnSpc>
            </a:pPr>
            <a:r>
              <a:rPr lang="en-US" sz="5469" spc="-300" dirty="0">
                <a:solidFill>
                  <a:srgbClr val="0B0A0A"/>
                </a:solidFill>
                <a:latin typeface="Heading Now 71-78"/>
                <a:ea typeface="Heading Now 71-78"/>
                <a:cs typeface="Heading Now 71-78"/>
                <a:sym typeface="Heading Now 71-78"/>
              </a:rPr>
              <a:t>Thank You!</a:t>
            </a:r>
          </a:p>
          <a:p>
            <a:pPr marL="0" lvl="0" indent="0" algn="l">
              <a:lnSpc>
                <a:spcPts val="5469"/>
              </a:lnSpc>
            </a:pPr>
            <a:r>
              <a:rPr lang="en-US" sz="5469" spc="-300" dirty="0">
                <a:solidFill>
                  <a:srgbClr val="0B0A0A"/>
                </a:solidFill>
                <a:latin typeface="Heading Now 71-78"/>
                <a:ea typeface="Heading Now 71-78"/>
                <a:cs typeface="Heading Now 71-78"/>
                <a:sym typeface="Heading Now 71-78"/>
              </a:rPr>
              <a:t>Questions &amp; Discussion</a:t>
            </a:r>
          </a:p>
        </p:txBody>
      </p:sp>
      <p:sp>
        <p:nvSpPr>
          <p:cNvPr id="8" name="Freeform 8"/>
          <p:cNvSpPr/>
          <p:nvPr/>
        </p:nvSpPr>
        <p:spPr>
          <a:xfrm>
            <a:off x="1890479" y="8462670"/>
            <a:ext cx="795630" cy="795630"/>
          </a:xfrm>
          <a:custGeom>
            <a:avLst/>
            <a:gdLst/>
            <a:ahLst/>
            <a:cxnLst/>
            <a:rect l="l" t="t" r="r" b="b"/>
            <a:pathLst>
              <a:path w="795630" h="795630">
                <a:moveTo>
                  <a:pt x="0" y="0"/>
                </a:moveTo>
                <a:lnTo>
                  <a:pt x="795631" y="0"/>
                </a:lnTo>
                <a:lnTo>
                  <a:pt x="795631" y="795630"/>
                </a:lnTo>
                <a:lnTo>
                  <a:pt x="0" y="795630"/>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txBody>
          <a:bodyPr/>
          <a:lstStyle/>
          <a:p>
            <a:endParaRPr lang="en-US"/>
          </a:p>
        </p:txBody>
      </p:sp>
      <p:sp>
        <p:nvSpPr>
          <p:cNvPr id="9" name="Freeform 9"/>
          <p:cNvSpPr/>
          <p:nvPr/>
        </p:nvSpPr>
        <p:spPr>
          <a:xfrm>
            <a:off x="15533614" y="8970988"/>
            <a:ext cx="1859075" cy="574623"/>
          </a:xfrm>
          <a:custGeom>
            <a:avLst/>
            <a:gdLst/>
            <a:ahLst/>
            <a:cxnLst/>
            <a:rect l="l" t="t" r="r" b="b"/>
            <a:pathLst>
              <a:path w="1859075" h="574623">
                <a:moveTo>
                  <a:pt x="0" y="0"/>
                </a:moveTo>
                <a:lnTo>
                  <a:pt x="1859075" y="0"/>
                </a:lnTo>
                <a:lnTo>
                  <a:pt x="1859075" y="574624"/>
                </a:lnTo>
                <a:lnTo>
                  <a:pt x="0" y="574624"/>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txBody>
          <a:bodyPr/>
          <a:lstStyle/>
          <a:p>
            <a:endParaRPr lang="en-US"/>
          </a:p>
        </p:txBody>
      </p:sp>
      <p:sp>
        <p:nvSpPr>
          <p:cNvPr id="10" name="Freeform 10"/>
          <p:cNvSpPr/>
          <p:nvPr/>
        </p:nvSpPr>
        <p:spPr>
          <a:xfrm>
            <a:off x="-795630" y="-888978"/>
            <a:ext cx="2686110" cy="2686110"/>
          </a:xfrm>
          <a:custGeom>
            <a:avLst/>
            <a:gdLst/>
            <a:ahLst/>
            <a:cxnLst/>
            <a:rect l="l" t="t" r="r" b="b"/>
            <a:pathLst>
              <a:path w="2686110" h="2686110">
                <a:moveTo>
                  <a:pt x="0" y="0"/>
                </a:moveTo>
                <a:lnTo>
                  <a:pt x="2686109" y="0"/>
                </a:lnTo>
                <a:lnTo>
                  <a:pt x="2686109" y="2686110"/>
                </a:lnTo>
                <a:lnTo>
                  <a:pt x="0" y="2686110"/>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txBody>
          <a:bodyPr/>
          <a:lstStyle/>
          <a:p>
            <a:endParaRPr lang="en-US"/>
          </a:p>
        </p:txBody>
      </p:sp>
      <p:sp>
        <p:nvSpPr>
          <p:cNvPr id="11" name="Freeform 11"/>
          <p:cNvSpPr/>
          <p:nvPr/>
        </p:nvSpPr>
        <p:spPr>
          <a:xfrm>
            <a:off x="15999705" y="241395"/>
            <a:ext cx="1921713" cy="1921713"/>
          </a:xfrm>
          <a:custGeom>
            <a:avLst/>
            <a:gdLst/>
            <a:ahLst/>
            <a:cxnLst/>
            <a:rect l="l" t="t" r="r" b="b"/>
            <a:pathLst>
              <a:path w="1921713" h="1921713">
                <a:moveTo>
                  <a:pt x="0" y="0"/>
                </a:moveTo>
                <a:lnTo>
                  <a:pt x="1921714" y="0"/>
                </a:lnTo>
                <a:lnTo>
                  <a:pt x="1921714" y="1921714"/>
                </a:lnTo>
                <a:lnTo>
                  <a:pt x="0" y="1921714"/>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txBody>
          <a:bodyPr/>
          <a:lstStyle/>
          <a:p>
            <a:endParaRPr lang="en-US"/>
          </a:p>
        </p:txBody>
      </p:sp>
      <p:sp>
        <p:nvSpPr>
          <p:cNvPr id="12" name="Freeform 12"/>
          <p:cNvSpPr/>
          <p:nvPr/>
        </p:nvSpPr>
        <p:spPr>
          <a:xfrm>
            <a:off x="13431972" y="6858968"/>
            <a:ext cx="904391" cy="904391"/>
          </a:xfrm>
          <a:custGeom>
            <a:avLst/>
            <a:gdLst/>
            <a:ahLst/>
            <a:cxnLst/>
            <a:rect l="l" t="t" r="r" b="b"/>
            <a:pathLst>
              <a:path w="904391" h="904391">
                <a:moveTo>
                  <a:pt x="0" y="0"/>
                </a:moveTo>
                <a:lnTo>
                  <a:pt x="904391" y="0"/>
                </a:lnTo>
                <a:lnTo>
                  <a:pt x="904391" y="904391"/>
                </a:lnTo>
                <a:lnTo>
                  <a:pt x="0" y="904391"/>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txBody>
          <a:bodyPr/>
          <a:lstStyle/>
          <a:p>
            <a:endParaRPr lang="en-US"/>
          </a:p>
        </p:txBody>
      </p:sp>
      <p:sp>
        <p:nvSpPr>
          <p:cNvPr id="13" name="Freeform 13"/>
          <p:cNvSpPr/>
          <p:nvPr/>
        </p:nvSpPr>
        <p:spPr>
          <a:xfrm>
            <a:off x="6127705" y="5143500"/>
            <a:ext cx="518377" cy="518377"/>
          </a:xfrm>
          <a:custGeom>
            <a:avLst/>
            <a:gdLst/>
            <a:ahLst/>
            <a:cxnLst/>
            <a:rect l="l" t="t" r="r" b="b"/>
            <a:pathLst>
              <a:path w="518377" h="518377">
                <a:moveTo>
                  <a:pt x="0" y="0"/>
                </a:moveTo>
                <a:lnTo>
                  <a:pt x="518377" y="0"/>
                </a:lnTo>
                <a:lnTo>
                  <a:pt x="518377" y="518377"/>
                </a:lnTo>
                <a:lnTo>
                  <a:pt x="0" y="518377"/>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txBody>
          <a:bodyPr/>
          <a:lstStyle/>
          <a:p>
            <a:endParaRPr lang="en-US"/>
          </a:p>
        </p:txBody>
      </p:sp>
      <p:sp>
        <p:nvSpPr>
          <p:cNvPr id="14" name="TextBox 13">
            <a:extLst>
              <a:ext uri="{FF2B5EF4-FFF2-40B4-BE49-F238E27FC236}">
                <a16:creationId xmlns:a16="http://schemas.microsoft.com/office/drawing/2014/main" xmlns="" id="{FA60C968-1843-C80E-0744-E5584FABD095}"/>
              </a:ext>
            </a:extLst>
          </p:cNvPr>
          <p:cNvSpPr txBox="1"/>
          <p:nvPr/>
        </p:nvSpPr>
        <p:spPr>
          <a:xfrm>
            <a:off x="7957121" y="5644736"/>
            <a:ext cx="4845054" cy="3600986"/>
          </a:xfrm>
          <a:prstGeom prst="rect">
            <a:avLst/>
          </a:prstGeom>
          <a:noFill/>
        </p:spPr>
        <p:txBody>
          <a:bodyPr wrap="square" rtlCol="0">
            <a:spAutoFit/>
          </a:bodyPr>
          <a:lstStyle/>
          <a:p>
            <a:r>
              <a:rPr lang="en-US" sz="6000" b="1" dirty="0"/>
              <a:t>Presented By : </a:t>
            </a:r>
          </a:p>
          <a:p>
            <a:pPr algn="ctr"/>
            <a:r>
              <a:rPr lang="en-US" sz="2800" dirty="0" err="1"/>
              <a:t>Shahd</a:t>
            </a:r>
            <a:r>
              <a:rPr lang="en-US" sz="2800" dirty="0"/>
              <a:t> </a:t>
            </a:r>
            <a:r>
              <a:rPr lang="en-US" sz="2800" dirty="0"/>
              <a:t>A</a:t>
            </a:r>
            <a:r>
              <a:rPr lang="en-US" sz="2800" dirty="0" smtClean="0"/>
              <a:t>hmed </a:t>
            </a:r>
            <a:r>
              <a:rPr lang="en-US" sz="2800" dirty="0"/>
              <a:t>Mahmoud </a:t>
            </a:r>
            <a:r>
              <a:rPr lang="en-US" sz="2800" dirty="0" smtClean="0"/>
              <a:t> </a:t>
            </a:r>
            <a:r>
              <a:rPr lang="en-US" sz="2800" dirty="0" err="1" smtClean="0"/>
              <a:t>Ewais</a:t>
            </a:r>
            <a:endParaRPr lang="en-US" sz="2800" dirty="0"/>
          </a:p>
          <a:p>
            <a:pPr algn="ctr"/>
            <a:r>
              <a:rPr lang="en-US" sz="2800" dirty="0" err="1"/>
              <a:t>Rawan</a:t>
            </a:r>
            <a:r>
              <a:rPr lang="en-US" sz="2800" dirty="0"/>
              <a:t> </a:t>
            </a:r>
            <a:r>
              <a:rPr lang="en-US" sz="2800" dirty="0" err="1"/>
              <a:t>G</a:t>
            </a:r>
            <a:r>
              <a:rPr lang="en-US" sz="2800" dirty="0" err="1" smtClean="0"/>
              <a:t>amal</a:t>
            </a:r>
            <a:r>
              <a:rPr lang="en-US" sz="2800" dirty="0" smtClean="0"/>
              <a:t> Abdullah</a:t>
            </a:r>
            <a:endParaRPr lang="en-US" sz="2800" dirty="0"/>
          </a:p>
          <a:p>
            <a:pPr algn="ctr"/>
            <a:r>
              <a:rPr lang="en-US" sz="2800" dirty="0"/>
              <a:t>Mariam Mohamed Mahmoud</a:t>
            </a:r>
          </a:p>
          <a:p>
            <a:pPr algn="ctr"/>
            <a:r>
              <a:rPr lang="en-US" sz="2800" dirty="0" err="1"/>
              <a:t>Shahd</a:t>
            </a:r>
            <a:r>
              <a:rPr lang="en-US" sz="2800" dirty="0"/>
              <a:t> </a:t>
            </a:r>
            <a:r>
              <a:rPr lang="en-US" sz="2800" dirty="0" smtClean="0"/>
              <a:t>A</a:t>
            </a:r>
            <a:r>
              <a:rPr lang="en-US" sz="2800" dirty="0" smtClean="0"/>
              <a:t>hmed </a:t>
            </a:r>
            <a:r>
              <a:rPr lang="en-US" sz="2800" dirty="0"/>
              <a:t>Ebrahim </a:t>
            </a:r>
          </a:p>
          <a:p>
            <a:pPr algn="ctr"/>
            <a:r>
              <a:rPr lang="en-US" sz="2800" dirty="0" err="1"/>
              <a:t>Abdelrahman</a:t>
            </a:r>
            <a:r>
              <a:rPr lang="en-US" sz="2800" dirty="0"/>
              <a:t> </a:t>
            </a:r>
            <a:r>
              <a:rPr lang="en-US" sz="2800" dirty="0" err="1"/>
              <a:t>S</a:t>
            </a:r>
            <a:r>
              <a:rPr lang="en-US" sz="2800" dirty="0" err="1" smtClean="0"/>
              <a:t>amy</a:t>
            </a:r>
            <a:endParaRPr lang="en-US" sz="2800" dirty="0"/>
          </a:p>
          <a:p>
            <a:pPr algn="ctr"/>
            <a:r>
              <a:rPr lang="en-US" sz="2800" dirty="0" err="1"/>
              <a:t>Abdelrahman</a:t>
            </a:r>
            <a:r>
              <a:rPr lang="en-US" sz="2800" dirty="0"/>
              <a:t> </a:t>
            </a:r>
            <a:r>
              <a:rPr lang="en-US" sz="2800" dirty="0" err="1"/>
              <a:t>S</a:t>
            </a:r>
            <a:r>
              <a:rPr lang="en-US" sz="2800" dirty="0" err="1" smtClean="0"/>
              <a:t>aad</a:t>
            </a:r>
            <a:endParaRPr lang="en-US" sz="28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463</TotalTime>
  <Words>290</Words>
  <Application>Microsoft Office PowerPoint</Application>
  <PresentationFormat>Custom</PresentationFormat>
  <Paragraphs>58</Paragraphs>
  <Slides>16</Slides>
  <Notes>0</Notes>
  <HiddenSlides>0</HiddenSlides>
  <MMClips>2</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Calibri</vt:lpstr>
      <vt:lpstr>Poppins</vt:lpstr>
      <vt:lpstr>TT Firs Neue</vt:lpstr>
      <vt:lpstr>Arial</vt:lpstr>
      <vt:lpstr>TT Interphases</vt:lpstr>
      <vt:lpstr>Heading Now 71-78</vt:lpstr>
      <vt:lpstr>TT Firs Neue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 Information System: Overview &amp; Roadmap</dc:title>
  <cp:lastModifiedBy>Microsoft account</cp:lastModifiedBy>
  <cp:revision>7</cp:revision>
  <dcterms:created xsi:type="dcterms:W3CDTF">2006-08-16T00:00:00Z</dcterms:created>
  <dcterms:modified xsi:type="dcterms:W3CDTF">2026-04-15T12:24:12Z</dcterms:modified>
  <dc:identifier>DAHG22OhG1U</dc:identifier>
</cp:coreProperties>
</file>